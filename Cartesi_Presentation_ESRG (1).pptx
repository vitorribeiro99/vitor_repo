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8" r:id="rId3"/>
    <p:sldId id="259" r:id="rId4"/>
    <p:sldId id="295" r:id="rId5"/>
    <p:sldId id="296" r:id="rId6"/>
    <p:sldId id="308" r:id="rId7"/>
    <p:sldId id="260" r:id="rId8"/>
    <p:sldId id="298" r:id="rId9"/>
    <p:sldId id="297" r:id="rId10"/>
    <p:sldId id="304" r:id="rId11"/>
    <p:sldId id="261" r:id="rId12"/>
    <p:sldId id="300" r:id="rId13"/>
    <p:sldId id="299" r:id="rId14"/>
    <p:sldId id="301" r:id="rId15"/>
    <p:sldId id="269" r:id="rId16"/>
    <p:sldId id="281" r:id="rId17"/>
    <p:sldId id="282" r:id="rId18"/>
    <p:sldId id="294" r:id="rId19"/>
    <p:sldId id="307" r:id="rId20"/>
    <p:sldId id="306" r:id="rId21"/>
    <p:sldId id="291" r:id="rId22"/>
    <p:sldId id="293" r:id="rId23"/>
    <p:sldId id="303" r:id="rId24"/>
    <p:sldId id="284" r:id="rId2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94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284165-7ABC-1665-4A3B-FF03752D9531}" v="10" dt="2021-11-16T22:50:34.548"/>
    <p1510:client id="{54962E0F-4943-A3EE-8312-9DF12BCABBE6}" v="342" dt="2021-11-07T18:30:34.159"/>
    <p1510:client id="{6163B699-0771-33C3-8E2F-23C67E30B435}" v="5" dt="2021-11-14T20:50:24.565"/>
    <p1510:client id="{B4919AD0-2DFA-B384-B867-9F8087999803}" v="21" dt="2021-11-04T23:45:52.636"/>
    <p1510:client id="{BF3815DC-FA97-9B8B-CDF5-446A72602AA6}" v="97" dt="2021-11-05T20:43:57.9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pt-PT" sz="1400" b="0" strike="noStrike" spc="-1">
                <a:solidFill>
                  <a:srgbClr val="000000"/>
                </a:solidFill>
                <a:latin typeface="Arial"/>
              </a:rPr>
              <a:t>Clique para mover o diapositivo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pt-PT" sz="2000" b="0" strike="noStrike" spc="-1">
                <a:latin typeface="Arial"/>
              </a:rPr>
              <a:t>Clique para editar o formato das notas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pt-PT" sz="1400" b="0" strike="noStrike" spc="-1">
                <a:latin typeface="Times New Roman"/>
              </a:rPr>
              <a:t>&lt;cabeçalho&gt;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pt-PT" sz="1400" b="0" strike="noStrike" spc="-1">
                <a:latin typeface="Times New Roman"/>
              </a:rPr>
              <a:t>&lt;data/hora&gt;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pt-PT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46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B61F874D-5269-472F-BBDC-BA001ADD8D0B}" type="slidenum">
              <a:rPr lang="pt-PT" sz="1400" b="0" strike="noStrike" spc="-1">
                <a:latin typeface="Times New Roman"/>
              </a:rPr>
              <a:t>‹nº›</a:t>
            </a:fld>
            <a:endParaRPr lang="pt-PT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635">
              <a:lnSpc>
                <a:spcPct val="100000"/>
              </a:lnSpc>
              <a:buClr>
                <a:srgbClr val="000000"/>
              </a:buClr>
            </a:pPr>
            <a:endParaRPr lang="en-US" sz="1200" b="0" strike="noStrike" spc="-1" dirty="0">
              <a:latin typeface="Calibri"/>
              <a:cs typeface="Calibri"/>
            </a:endParaRPr>
          </a:p>
        </p:txBody>
      </p:sp>
      <p:sp>
        <p:nvSpPr>
          <p:cNvPr id="456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4E6B25B8-8E0D-4D3A-B4B9-8CBB0F34E693}" type="slidenum">
              <a:rPr lang="en-US" sz="1400" b="0" strike="noStrike" spc="-1">
                <a:latin typeface="Times New Roman"/>
              </a:rPr>
              <a:t>1</a:t>
            </a:fld>
            <a:endParaRPr lang="pt-PT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pt-PT" sz="2000" spc="-1" dirty="0">
                <a:latin typeface="Arial"/>
                <a:cs typeface="Arial"/>
              </a:rPr>
              <a:t>Fazer transições,  1 ponto de cada vez, para </a:t>
            </a:r>
            <a:r>
              <a:rPr lang="pt-PT" sz="2000" spc="-1" dirty="0" err="1">
                <a:latin typeface="Arial"/>
                <a:cs typeface="Arial"/>
              </a:rPr>
              <a:t>nãao</a:t>
            </a:r>
            <a:r>
              <a:rPr lang="pt-PT" sz="2000" spc="-1" dirty="0">
                <a:latin typeface="Arial"/>
                <a:cs typeface="Arial"/>
              </a:rPr>
              <a:t> ser excesso de informação</a:t>
            </a:r>
            <a:endParaRPr lang="pt-PT" sz="2000" b="0" strike="noStrike" spc="-1" dirty="0">
              <a:latin typeface="Arial"/>
            </a:endParaRPr>
          </a:p>
        </p:txBody>
      </p:sp>
      <p:sp>
        <p:nvSpPr>
          <p:cNvPr id="462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78C07659-5E17-44F1-B5EF-F5DB7ECEECFC}" type="slidenum">
              <a:rPr lang="en-US" sz="1400" b="0" strike="noStrike" spc="-1">
                <a:latin typeface="Times New Roman"/>
              </a:rPr>
              <a:t>3</a:t>
            </a:fld>
            <a:endParaRPr lang="pt-PT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pt-PT" sz="2000" spc="-1" dirty="0">
                <a:latin typeface="Arial"/>
                <a:cs typeface="Arial"/>
              </a:rPr>
              <a:t>Fazer transições,  1 ponto de cada vez, para </a:t>
            </a:r>
            <a:r>
              <a:rPr lang="pt-PT" sz="2000" spc="-1" dirty="0" err="1">
                <a:latin typeface="Arial"/>
                <a:cs typeface="Arial"/>
              </a:rPr>
              <a:t>nãao</a:t>
            </a:r>
            <a:r>
              <a:rPr lang="pt-PT" sz="2000" spc="-1" dirty="0">
                <a:latin typeface="Arial"/>
                <a:cs typeface="Arial"/>
              </a:rPr>
              <a:t> ser excesso de informação</a:t>
            </a:r>
            <a:endParaRPr lang="pt-PT" sz="2000" b="0" strike="noStrike" spc="-1" dirty="0">
              <a:latin typeface="Arial"/>
            </a:endParaRPr>
          </a:p>
        </p:txBody>
      </p:sp>
      <p:sp>
        <p:nvSpPr>
          <p:cNvPr id="462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78C07659-5E17-44F1-B5EF-F5DB7ECEECFC}" type="slidenum">
              <a:rPr lang="en-US" sz="1400" b="0" strike="noStrike" spc="-1">
                <a:latin typeface="Times New Roman"/>
              </a:rPr>
              <a:t>4</a:t>
            </a:fld>
            <a:endParaRPr lang="pt-PT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895871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pt-PT" sz="2000" spc="-1" dirty="0">
                <a:latin typeface="Arial"/>
                <a:cs typeface="Arial"/>
              </a:rPr>
              <a:t>Fazer transições,  1 ponto de cada vez, para </a:t>
            </a:r>
            <a:r>
              <a:rPr lang="pt-PT" sz="2000" spc="-1" dirty="0" err="1">
                <a:latin typeface="Arial"/>
                <a:cs typeface="Arial"/>
              </a:rPr>
              <a:t>nãao</a:t>
            </a:r>
            <a:r>
              <a:rPr lang="pt-PT" sz="2000" spc="-1" dirty="0">
                <a:latin typeface="Arial"/>
                <a:cs typeface="Arial"/>
              </a:rPr>
              <a:t> ser excesso de informação</a:t>
            </a:r>
            <a:endParaRPr lang="pt-PT" sz="2000" b="0" strike="noStrike" spc="-1" dirty="0">
              <a:latin typeface="Arial"/>
            </a:endParaRPr>
          </a:p>
        </p:txBody>
      </p:sp>
      <p:sp>
        <p:nvSpPr>
          <p:cNvPr id="462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78C07659-5E17-44F1-B5EF-F5DB7ECEECFC}" type="slidenum">
              <a:rPr lang="en-US" sz="1400" b="0" strike="noStrike" spc="-1">
                <a:latin typeface="Times New Roman"/>
              </a:rPr>
              <a:t>5</a:t>
            </a:fld>
            <a:endParaRPr lang="pt-PT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3732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pt-PT" sz="2000" spc="-1" dirty="0">
                <a:latin typeface="Arial"/>
                <a:cs typeface="Arial"/>
              </a:rPr>
              <a:t>Fazer transições,  1 ponto de cada vez, para </a:t>
            </a:r>
            <a:r>
              <a:rPr lang="pt-PT" sz="2000" spc="-1" dirty="0" err="1">
                <a:latin typeface="Arial"/>
                <a:cs typeface="Arial"/>
              </a:rPr>
              <a:t>nãao</a:t>
            </a:r>
            <a:r>
              <a:rPr lang="pt-PT" sz="2000" spc="-1" dirty="0">
                <a:latin typeface="Arial"/>
                <a:cs typeface="Arial"/>
              </a:rPr>
              <a:t> ser excesso de informação</a:t>
            </a:r>
            <a:endParaRPr lang="pt-PT" sz="2000" b="0" strike="noStrike" spc="-1" dirty="0">
              <a:latin typeface="Arial"/>
            </a:endParaRPr>
          </a:p>
        </p:txBody>
      </p:sp>
      <p:sp>
        <p:nvSpPr>
          <p:cNvPr id="462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78C07659-5E17-44F1-B5EF-F5DB7ECEECFC}" type="slidenum">
              <a:rPr lang="en-US" sz="1400" b="0" strike="noStrike" spc="-1">
                <a:latin typeface="Times New Roman"/>
              </a:rPr>
              <a:t>6</a:t>
            </a:fld>
            <a:endParaRPr lang="pt-PT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15108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pt-PT" spc="-1"/>
              <a:t>Associar com segurança da blockchain (roubo de carteiras?? Vulnerabilidades?)</a:t>
            </a:r>
          </a:p>
          <a:p>
            <a:endParaRPr lang="pt-PT" spc="-1" dirty="0">
              <a:cs typeface="Arial"/>
            </a:endParaRPr>
          </a:p>
          <a:p>
            <a:endParaRPr lang="pt-PT" spc="-1" dirty="0">
              <a:cs typeface="Arial"/>
            </a:endParaRPr>
          </a:p>
        </p:txBody>
      </p:sp>
      <p:sp>
        <p:nvSpPr>
          <p:cNvPr id="465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8E46469E-A349-4122-9945-FF74530E0D7D}" type="slidenum">
              <a:rPr lang="en-US" sz="1400" b="0" strike="noStrike" spc="-1">
                <a:latin typeface="Times New Roman"/>
              </a:rPr>
              <a:t>6</a:t>
            </a:fld>
            <a:endParaRPr lang="pt-PT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pt-PT" spc="-1"/>
              <a:t>Associar com segurança da blockchain (roubo de carteiras?? Vulnerabilidades?)</a:t>
            </a:r>
          </a:p>
          <a:p>
            <a:endParaRPr lang="pt-PT" spc="-1" dirty="0">
              <a:cs typeface="Arial"/>
            </a:endParaRPr>
          </a:p>
          <a:p>
            <a:endParaRPr lang="pt-PT" spc="-1" dirty="0">
              <a:cs typeface="Arial"/>
            </a:endParaRPr>
          </a:p>
        </p:txBody>
      </p:sp>
      <p:sp>
        <p:nvSpPr>
          <p:cNvPr id="465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8E46469E-A349-4122-9945-FF74530E0D7D}" type="slidenum">
              <a:rPr lang="en-US" sz="1400" b="0" strike="noStrike" spc="-1">
                <a:latin typeface="Times New Roman"/>
              </a:rPr>
              <a:t>7</a:t>
            </a:fld>
            <a:endParaRPr lang="pt-PT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082249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pt-PT" spc="-1"/>
              <a:t>Associar com segurança da blockchain (roubo de carteiras?? Vulnerabilidades?)</a:t>
            </a:r>
          </a:p>
          <a:p>
            <a:endParaRPr lang="pt-PT" spc="-1" dirty="0">
              <a:cs typeface="Arial"/>
            </a:endParaRPr>
          </a:p>
          <a:p>
            <a:endParaRPr lang="pt-PT" spc="-1" dirty="0">
              <a:cs typeface="Arial"/>
            </a:endParaRPr>
          </a:p>
        </p:txBody>
      </p:sp>
      <p:sp>
        <p:nvSpPr>
          <p:cNvPr id="465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8E46469E-A349-4122-9945-FF74530E0D7D}" type="slidenum">
              <a:rPr lang="en-US" sz="1400" b="0" strike="noStrike" spc="-1">
                <a:latin typeface="Times New Roman"/>
              </a:rPr>
              <a:t>8</a:t>
            </a:fld>
            <a:endParaRPr lang="pt-PT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371588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pt-PT" spc="-1"/>
              <a:t>Associar com segurança da blockchain (roubo de carteiras?? Vulnerabilidades?)</a:t>
            </a:r>
          </a:p>
          <a:p>
            <a:endParaRPr lang="pt-PT" spc="-1" dirty="0">
              <a:cs typeface="Arial"/>
            </a:endParaRPr>
          </a:p>
          <a:p>
            <a:endParaRPr lang="pt-PT" spc="-1" dirty="0">
              <a:cs typeface="Arial"/>
            </a:endParaRPr>
          </a:p>
        </p:txBody>
      </p:sp>
      <p:sp>
        <p:nvSpPr>
          <p:cNvPr id="465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8E46469E-A349-4122-9945-FF74530E0D7D}" type="slidenum">
              <a:rPr lang="en-US" sz="1400" b="0" strike="noStrike" spc="-1">
                <a:latin typeface="Times New Roman"/>
              </a:rPr>
              <a:t>9</a:t>
            </a:fld>
            <a:endParaRPr lang="pt-PT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010302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pt-PT" spc="-1"/>
              <a:t>TEEs ajudam a resolver estes problemas de segurança, vamos usar para tentar resolver problemas da blockchain</a:t>
            </a:r>
          </a:p>
          <a:p>
            <a:r>
              <a:rPr lang="pt-PT" spc="-1">
                <a:cs typeface="Arial"/>
              </a:rPr>
              <a:t>Resiste a ataques de fora do tee</a:t>
            </a:r>
          </a:p>
          <a:p>
            <a:endParaRPr lang="pt-PT" spc="-1" dirty="0">
              <a:cs typeface="Arial"/>
            </a:endParaRPr>
          </a:p>
        </p:txBody>
      </p:sp>
      <p:sp>
        <p:nvSpPr>
          <p:cNvPr id="468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264C1482-7205-4BFA-A153-E7D22BABF685}" type="slidenum">
              <a:rPr lang="en-US" sz="1400" b="0" strike="noStrike" spc="-1">
                <a:latin typeface="Times New Roman"/>
              </a:rPr>
              <a:t>10</a:t>
            </a:fld>
            <a:endParaRPr lang="pt-PT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pt-PT" spc="-1" dirty="0" err="1"/>
              <a:t>TEEs</a:t>
            </a:r>
            <a:r>
              <a:rPr lang="pt-PT" spc="-1" dirty="0"/>
              <a:t> ajudam a resolver estes problemas de segurança, vamos usar para tentar resolver problemas da blockchain</a:t>
            </a:r>
          </a:p>
          <a:p>
            <a:r>
              <a:rPr lang="pt-PT" spc="-1" dirty="0">
                <a:cs typeface="Arial"/>
              </a:rPr>
              <a:t>Resiste a ataques de fora do tee</a:t>
            </a:r>
          </a:p>
          <a:p>
            <a:endParaRPr lang="pt-PT" spc="-1" dirty="0">
              <a:cs typeface="Arial"/>
            </a:endParaRPr>
          </a:p>
        </p:txBody>
      </p:sp>
      <p:sp>
        <p:nvSpPr>
          <p:cNvPr id="468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264C1482-7205-4BFA-A153-E7D22BABF685}" type="slidenum">
              <a:rPr lang="en-US" sz="1400" b="0" strike="noStrike" spc="-1">
                <a:latin typeface="Times New Roman"/>
              </a:rPr>
              <a:t>11</a:t>
            </a:fld>
            <a:endParaRPr lang="pt-PT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120633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pt-PT" spc="-1"/>
              <a:t>TEEs ajudam a resolver estes problemas de segurança, vamos usar para tentar resolver problemas da blockchain</a:t>
            </a:r>
          </a:p>
          <a:p>
            <a:r>
              <a:rPr lang="pt-PT" spc="-1">
                <a:cs typeface="Arial"/>
              </a:rPr>
              <a:t>Resiste a ataques de fora do tee</a:t>
            </a:r>
          </a:p>
          <a:p>
            <a:endParaRPr lang="pt-PT" spc="-1" dirty="0">
              <a:cs typeface="Arial"/>
            </a:endParaRPr>
          </a:p>
        </p:txBody>
      </p:sp>
      <p:sp>
        <p:nvSpPr>
          <p:cNvPr id="468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264C1482-7205-4BFA-A153-E7D22BABF685}" type="slidenum">
              <a:rPr lang="en-US" sz="1400" b="0" strike="noStrike" spc="-1">
                <a:latin typeface="Times New Roman"/>
              </a:rPr>
              <a:t>12</a:t>
            </a:fld>
            <a:endParaRPr lang="pt-PT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800331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pt-PT" spc="-1"/>
              <a:t>TEEs ajudam a resolver estes problemas de segurança, vamos usar para tentar resolver problemas da blockchain</a:t>
            </a:r>
          </a:p>
          <a:p>
            <a:r>
              <a:rPr lang="pt-PT" spc="-1">
                <a:cs typeface="Arial"/>
              </a:rPr>
              <a:t>Resiste a ataques de fora do tee</a:t>
            </a:r>
          </a:p>
          <a:p>
            <a:endParaRPr lang="pt-PT" spc="-1" dirty="0">
              <a:cs typeface="Arial"/>
            </a:endParaRPr>
          </a:p>
        </p:txBody>
      </p:sp>
      <p:sp>
        <p:nvSpPr>
          <p:cNvPr id="468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264C1482-7205-4BFA-A153-E7D22BABF685}" type="slidenum">
              <a:rPr lang="en-US" sz="1400" b="0" strike="noStrike" spc="-1">
                <a:latin typeface="Times New Roman"/>
              </a:rPr>
              <a:t>13</a:t>
            </a:fld>
            <a:endParaRPr lang="pt-PT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73202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5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pt-PT" sz="2000" spc="-1">
                <a:latin typeface="Arial"/>
                <a:cs typeface="Arial"/>
              </a:rPr>
              <a:t>1 frase pequena para cada ponto</a:t>
            </a:r>
            <a:endParaRPr lang="pt-PT" sz="2000" b="0" strike="noStrike" spc="-1">
              <a:latin typeface="Arial"/>
            </a:endParaRPr>
          </a:p>
        </p:txBody>
      </p:sp>
      <p:sp>
        <p:nvSpPr>
          <p:cNvPr id="525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0C4B1060-99A4-4341-9510-16BB5B28DBA7}" type="slidenum">
              <a:rPr lang="en-US" sz="1400" b="0" strike="noStrike" spc="-1">
                <a:latin typeface="Times New Roman"/>
              </a:rPr>
              <a:t>15</a:t>
            </a:fld>
            <a:endParaRPr lang="pt-PT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pt-PT" sz="2000" b="0" strike="noStrike" spc="-1">
              <a:latin typeface="Arial"/>
            </a:endParaRPr>
          </a:p>
        </p:txBody>
      </p:sp>
      <p:sp>
        <p:nvSpPr>
          <p:cNvPr id="468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264C1482-7205-4BFA-A153-E7D22BABF685}" type="slidenum">
              <a:rPr lang="en-US" sz="1400" b="0" strike="noStrike" spc="-1">
                <a:latin typeface="Times New Roman"/>
              </a:rPr>
              <a:t>17</a:t>
            </a:fld>
            <a:endParaRPr lang="pt-PT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832209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pt-PT" sz="2000" b="0" strike="noStrike" spc="-1">
              <a:latin typeface="Arial"/>
            </a:endParaRPr>
          </a:p>
        </p:txBody>
      </p:sp>
      <p:sp>
        <p:nvSpPr>
          <p:cNvPr id="468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264C1482-7205-4BFA-A153-E7D22BABF685}" type="slidenum">
              <a:rPr lang="en-US" sz="1400" b="0" strike="noStrike" spc="-1">
                <a:latin typeface="Times New Roman"/>
              </a:rPr>
              <a:t>18</a:t>
            </a:fld>
            <a:endParaRPr lang="pt-PT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832209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pt-PT" sz="2000" b="0" strike="noStrike" spc="-1">
              <a:latin typeface="Arial"/>
            </a:endParaRPr>
          </a:p>
        </p:txBody>
      </p:sp>
      <p:sp>
        <p:nvSpPr>
          <p:cNvPr id="468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264C1482-7205-4BFA-A153-E7D22BABF685}" type="slidenum">
              <a:rPr lang="en-US" sz="1400" b="0" strike="noStrike" spc="-1">
                <a:latin typeface="Times New Roman"/>
              </a:rPr>
              <a:t>19</a:t>
            </a:fld>
            <a:endParaRPr lang="pt-PT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832209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pt-PT" spc="-1" dirty="0">
                <a:cs typeface="Arial"/>
              </a:rPr>
              <a:t>Achamos que os tees dão para resolver</a:t>
            </a:r>
            <a:endParaRPr lang="en-US" spc="-1" dirty="0">
              <a:cs typeface="Arial"/>
            </a:endParaRPr>
          </a:p>
          <a:p>
            <a:endParaRPr lang="pt-PT" sz="2000" b="0" strike="noStrike" spc="-1" dirty="0">
              <a:latin typeface="Arial"/>
              <a:cs typeface="Arial"/>
            </a:endParaRPr>
          </a:p>
        </p:txBody>
      </p:sp>
      <p:sp>
        <p:nvSpPr>
          <p:cNvPr id="468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264C1482-7205-4BFA-A153-E7D22BABF685}" type="slidenum">
              <a:rPr lang="en-US" sz="1400" b="0" strike="noStrike" spc="-1">
                <a:latin typeface="Times New Roman"/>
              </a:rPr>
              <a:t>21</a:t>
            </a:fld>
            <a:endParaRPr lang="pt-PT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096280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pt-PT" spc="-1" dirty="0">
                <a:cs typeface="Arial"/>
              </a:rPr>
              <a:t>Achamos que os tees dão para resolver</a:t>
            </a:r>
            <a:endParaRPr lang="en-US" spc="-1" dirty="0">
              <a:cs typeface="Arial"/>
            </a:endParaRPr>
          </a:p>
          <a:p>
            <a:endParaRPr lang="pt-PT" sz="2000" b="0" strike="noStrike" spc="-1" dirty="0">
              <a:latin typeface="Arial"/>
              <a:cs typeface="Arial"/>
            </a:endParaRPr>
          </a:p>
        </p:txBody>
      </p:sp>
      <p:sp>
        <p:nvSpPr>
          <p:cNvPr id="468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264C1482-7205-4BFA-A153-E7D22BABF685}" type="slidenum">
              <a:rPr lang="en-US" sz="1400" b="0" strike="noStrike" spc="-1">
                <a:latin typeface="Times New Roman"/>
              </a:rPr>
              <a:t>22</a:t>
            </a:fld>
            <a:endParaRPr lang="pt-PT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32858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5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pt-PT" sz="2000" b="0" strike="noStrike" spc="-1">
              <a:latin typeface="Arial"/>
            </a:endParaRPr>
          </a:p>
        </p:txBody>
      </p:sp>
      <p:sp>
        <p:nvSpPr>
          <p:cNvPr id="531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CA2F97A0-46CE-470C-99E0-6EB96BD7E081}" type="slidenum">
              <a:rPr lang="en-US" sz="1400" b="0" strike="noStrike" spc="-1">
                <a:latin typeface="Times New Roman"/>
              </a:rPr>
              <a:t>23</a:t>
            </a:fld>
            <a:endParaRPr lang="pt-PT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P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P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r>
              <a:rPr lang="pt-PT" sz="6000" b="0" strike="noStrike" spc="-1">
                <a:solidFill>
                  <a:srgbClr val="000000"/>
                </a:solidFill>
                <a:latin typeface="Arial"/>
              </a:rPr>
              <a:t>Clique para editar o formato do título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pt-PT" sz="24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pt-PT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55770421-5EED-4A9C-86BD-09C42714501A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PT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14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1400" b="0" strike="noStrike" spc="-1">
                <a:solidFill>
                  <a:srgbClr val="000000"/>
                </a:solidFill>
                <a:latin typeface="Arial"/>
              </a:rPr>
              <a:t>Segundo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1400" b="0" strike="noStrike" spc="-1">
                <a:solidFill>
                  <a:srgbClr val="000000"/>
                </a:solidFill>
                <a:latin typeface="Arial"/>
              </a:rPr>
              <a:t>Terceiro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1400" b="0" strike="noStrike" spc="-1">
                <a:solidFill>
                  <a:srgbClr val="000000"/>
                </a:solidFill>
                <a:latin typeface="Arial"/>
              </a:rPr>
              <a:t>Quarto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Arial"/>
              </a:rPr>
              <a:t>Quinto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Arial"/>
              </a:rPr>
              <a:t>Sexto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Arial"/>
              </a:rPr>
              <a:t>Sétimo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4.png"/><Relationship Id="rId5" Type="http://schemas.openxmlformats.org/officeDocument/2006/relationships/image" Target="../media/image7.png"/><Relationship Id="rId10" Type="http://schemas.openxmlformats.org/officeDocument/2006/relationships/image" Target="../media/image13.png"/><Relationship Id="rId4" Type="http://schemas.openxmlformats.org/officeDocument/2006/relationships/image" Target="../media/image6.pn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Shape 1"/>
          <p:cNvSpPr txBox="1"/>
          <p:nvPr/>
        </p:nvSpPr>
        <p:spPr>
          <a:xfrm>
            <a:off x="6018120" y="1237680"/>
            <a:ext cx="6245640" cy="1002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>
                <a:solidFill>
                  <a:srgbClr val="1694B2"/>
                </a:solidFill>
                <a:latin typeface="Nunito"/>
                <a:ea typeface="Nunito"/>
              </a:rPr>
              <a:t>Towards Secure Layer-2 Blockchain Solutions Using TEEs</a:t>
            </a:r>
            <a:endParaRPr lang="pt-PT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CustomShape 2"/>
          <p:cNvSpPr/>
          <p:nvPr/>
        </p:nvSpPr>
        <p:spPr>
          <a:xfrm rot="21015600">
            <a:off x="474840" y="3382200"/>
            <a:ext cx="5943240" cy="85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5000" b="1" strike="noStrike" spc="-1">
                <a:solidFill>
                  <a:srgbClr val="FFFFFF"/>
                </a:solidFill>
                <a:latin typeface="Nunito"/>
                <a:ea typeface="Nunito"/>
              </a:rPr>
              <a:t>ESRG</a:t>
            </a:r>
            <a:r>
              <a:rPr lang="en-US" sz="3600" b="1" strike="noStrike" spc="-1">
                <a:solidFill>
                  <a:srgbClr val="FFFFFF"/>
                </a:solidFill>
                <a:latin typeface="Nunito"/>
                <a:ea typeface="Nunito"/>
              </a:rPr>
              <a:t>v3</a:t>
            </a:r>
            <a:endParaRPr lang="pt-PT" sz="3600" b="0" strike="noStrike" spc="-1">
              <a:latin typeface="Arial"/>
            </a:endParaRPr>
          </a:p>
        </p:txBody>
      </p:sp>
      <p:sp>
        <p:nvSpPr>
          <p:cNvPr id="49" name="CustomShape 3"/>
          <p:cNvSpPr/>
          <p:nvPr/>
        </p:nvSpPr>
        <p:spPr>
          <a:xfrm>
            <a:off x="5946120" y="5652720"/>
            <a:ext cx="6245640" cy="69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303B3F"/>
                </a:solidFill>
                <a:latin typeface="Nunito"/>
                <a:ea typeface="Nunito"/>
              </a:rPr>
              <a:t>Universidade do Minho</a:t>
            </a:r>
            <a:endParaRPr lang="pt-PT" sz="3200" b="0" strike="noStrike" spc="-1" dirty="0">
              <a:latin typeface="Arial"/>
            </a:endParaRPr>
          </a:p>
        </p:txBody>
      </p:sp>
      <p:pic>
        <p:nvPicPr>
          <p:cNvPr id="50" name="Google Shape;92;p1"/>
          <p:cNvPicPr/>
          <p:nvPr/>
        </p:nvPicPr>
        <p:blipFill>
          <a:blip r:embed="rId3"/>
          <a:stretch/>
        </p:blipFill>
        <p:spPr>
          <a:xfrm>
            <a:off x="0" y="0"/>
            <a:ext cx="6095520" cy="6857640"/>
          </a:xfrm>
          <a:prstGeom prst="rect">
            <a:avLst/>
          </a:prstGeom>
          <a:ln>
            <a:noFill/>
          </a:ln>
        </p:spPr>
      </p:pic>
      <p:sp>
        <p:nvSpPr>
          <p:cNvPr id="51" name="CustomShape 4"/>
          <p:cNvSpPr/>
          <p:nvPr/>
        </p:nvSpPr>
        <p:spPr>
          <a:xfrm>
            <a:off x="5971680" y="3415320"/>
            <a:ext cx="6245640" cy="952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303B3F"/>
                </a:solidFill>
                <a:latin typeface="Nunito"/>
                <a:ea typeface="Nunito"/>
              </a:rPr>
              <a:t>Vitor Ribeiro</a:t>
            </a:r>
            <a:endParaRPr lang="pt-PT" sz="1800" b="0" strike="noStrike" spc="-1" dirty="0">
              <a:latin typeface="Arial"/>
            </a:endParaRPr>
          </a:p>
          <a:p>
            <a:pPr algn="ctr">
              <a:tabLst>
                <a:tab pos="0" algn="l"/>
              </a:tabLst>
            </a:pPr>
            <a:r>
              <a:rPr lang="en-US" b="1" spc="-1" dirty="0">
                <a:solidFill>
                  <a:srgbClr val="303B3F"/>
                </a:solidFill>
                <a:latin typeface="Nunito"/>
              </a:rPr>
              <a:t>Advisor: Sandro Pinto PhD</a:t>
            </a:r>
          </a:p>
          <a:p>
            <a:pPr algn="ctr">
              <a:tabLst>
                <a:tab pos="0" algn="l"/>
              </a:tabLst>
            </a:pPr>
            <a:r>
              <a:rPr lang="en-US" b="1" spc="-1" dirty="0">
                <a:solidFill>
                  <a:srgbClr val="303B3F"/>
                </a:solidFill>
                <a:latin typeface="Nunito"/>
              </a:rPr>
              <a:t>Co-Advisor: David Cerdeira</a:t>
            </a:r>
            <a:endParaRPr lang="en-US" dirty="0"/>
          </a:p>
          <a:p>
            <a:pPr algn="ctr">
              <a:tabLst>
                <a:tab pos="0" algn="l"/>
              </a:tabLst>
            </a:pPr>
            <a:endParaRPr lang="pt-PT" spc="-1">
              <a:latin typeface="Arial"/>
            </a:endParaRPr>
          </a:p>
        </p:txBody>
      </p:sp>
      <p:sp>
        <p:nvSpPr>
          <p:cNvPr id="52" name="CustomShape 5"/>
          <p:cNvSpPr/>
          <p:nvPr/>
        </p:nvSpPr>
        <p:spPr>
          <a:xfrm>
            <a:off x="6157800" y="6188400"/>
            <a:ext cx="5873040" cy="31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303B3F"/>
                </a:solidFill>
                <a:latin typeface="Nunito"/>
                <a:ea typeface="Nunito"/>
              </a:rPr>
              <a:t>Nov, 2021</a:t>
            </a:r>
            <a:endParaRPr lang="pt-PT" sz="1400" b="0" strike="noStrike" spc="-1">
              <a:latin typeface="Arial"/>
            </a:endParaRPr>
          </a:p>
        </p:txBody>
      </p:sp>
      <p:pic>
        <p:nvPicPr>
          <p:cNvPr id="53" name="Google Shape;95;p1"/>
          <p:cNvPicPr/>
          <p:nvPr/>
        </p:nvPicPr>
        <p:blipFill>
          <a:blip r:embed="rId4"/>
          <a:stretch/>
        </p:blipFill>
        <p:spPr>
          <a:xfrm>
            <a:off x="6828201" y="4749419"/>
            <a:ext cx="2817000" cy="666000"/>
          </a:xfrm>
          <a:prstGeom prst="rect">
            <a:avLst/>
          </a:prstGeom>
          <a:ln>
            <a:noFill/>
          </a:ln>
        </p:spPr>
      </p:pic>
      <p:pic>
        <p:nvPicPr>
          <p:cNvPr id="54" name="Google Shape;96;p1"/>
          <p:cNvPicPr/>
          <p:nvPr/>
        </p:nvPicPr>
        <p:blipFill>
          <a:blip r:embed="rId5"/>
          <a:stretch/>
        </p:blipFill>
        <p:spPr>
          <a:xfrm>
            <a:off x="10007001" y="4715579"/>
            <a:ext cx="1279800" cy="733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ustomShap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303B3F"/>
          </a:solidFill>
          <a:ln w="12600">
            <a:solidFill>
              <a:srgbClr val="42719B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" name="CustomShape 2"/>
          <p:cNvSpPr/>
          <p:nvPr/>
        </p:nvSpPr>
        <p:spPr>
          <a:xfrm>
            <a:off x="0" y="5910840"/>
            <a:ext cx="121917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600">
            <a:solidFill>
              <a:schemeClr val="lt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5" name="CustomShape 3"/>
          <p:cNvSpPr/>
          <p:nvPr/>
        </p:nvSpPr>
        <p:spPr>
          <a:xfrm>
            <a:off x="6350950" y="5029200"/>
            <a:ext cx="5835080" cy="881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b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1" spc="-1" dirty="0">
                <a:solidFill>
                  <a:srgbClr val="FFFFFF"/>
                </a:solidFill>
                <a:latin typeface="Nunito"/>
              </a:rPr>
              <a:t>Contextualization</a:t>
            </a:r>
            <a:endParaRPr lang="en-US" sz="5400" b="1" strike="noStrike" spc="-1" dirty="0">
              <a:solidFill>
                <a:srgbClr val="FFFFFF"/>
              </a:solidFill>
              <a:latin typeface="Nunito"/>
            </a:endParaRPr>
          </a:p>
        </p:txBody>
      </p:sp>
      <p:sp>
        <p:nvSpPr>
          <p:cNvPr id="66" name="CustomShape 4"/>
          <p:cNvSpPr/>
          <p:nvPr/>
        </p:nvSpPr>
        <p:spPr>
          <a:xfrm>
            <a:off x="3805200" y="6003360"/>
            <a:ext cx="838656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b">
            <a:noAutofit/>
          </a:bodyPr>
          <a:lstStyle/>
          <a:p>
            <a:pPr algn="r">
              <a:tabLst>
                <a:tab pos="0" algn="l"/>
              </a:tabLst>
            </a:pPr>
            <a:endParaRPr lang="pt-PT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ustomShape 1"/>
          <p:cNvSpPr/>
          <p:nvPr/>
        </p:nvSpPr>
        <p:spPr>
          <a:xfrm>
            <a:off x="361440" y="1467360"/>
            <a:ext cx="3784680" cy="47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FFFFFF"/>
                </a:solidFill>
                <a:latin typeface="Nunito"/>
                <a:ea typeface="Nunito"/>
              </a:rPr>
              <a:t>“...”</a:t>
            </a:r>
            <a:endParaRPr lang="pt-PT" sz="1700" b="0" strike="noStrike" spc="-1">
              <a:latin typeface="Arial"/>
            </a:endParaRPr>
          </a:p>
        </p:txBody>
      </p:sp>
      <p:sp>
        <p:nvSpPr>
          <p:cNvPr id="68" name="CustomShape 2"/>
          <p:cNvSpPr/>
          <p:nvPr/>
        </p:nvSpPr>
        <p:spPr>
          <a:xfrm>
            <a:off x="0" y="241200"/>
            <a:ext cx="12191760" cy="68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-US" sz="4400" b="1" spc="-1" dirty="0">
                <a:solidFill>
                  <a:srgbClr val="303B3F"/>
                </a:solidFill>
                <a:latin typeface="Nunito"/>
              </a:rPr>
              <a:t>Block</a:t>
            </a:r>
            <a:r>
              <a:rPr lang="en-US" sz="4400" b="1" spc="-1" dirty="0">
                <a:solidFill>
                  <a:srgbClr val="1694B2"/>
                </a:solidFill>
                <a:latin typeface="Nunito"/>
              </a:rPr>
              <a:t>chain</a:t>
            </a:r>
            <a:endParaRPr lang="pt-PT" sz="4400" dirty="0"/>
          </a:p>
        </p:txBody>
      </p:sp>
      <p:sp>
        <p:nvSpPr>
          <p:cNvPr id="69" name="CustomShape 3"/>
          <p:cNvSpPr/>
          <p:nvPr/>
        </p:nvSpPr>
        <p:spPr>
          <a:xfrm>
            <a:off x="0" y="6507720"/>
            <a:ext cx="12191760" cy="21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fld id="{F9996F74-2EDF-4481-B7BF-255BD9EE71ED}" type="slidenum">
              <a:rPr lang="en-US" sz="1200" b="0" strike="noStrike" spc="-1">
                <a:solidFill>
                  <a:srgbClr val="8498A0"/>
                </a:solidFill>
                <a:latin typeface="Nunito"/>
                <a:ea typeface="Nunito"/>
              </a:rPr>
              <a:t>3</a:t>
            </a:fld>
            <a:endParaRPr lang="pt-PT" sz="1200" b="0" strike="noStrike" spc="-1">
              <a:latin typeface="Arial"/>
            </a:endParaRPr>
          </a:p>
        </p:txBody>
      </p:sp>
      <p:sp>
        <p:nvSpPr>
          <p:cNvPr id="70" name="CustomShape 4"/>
          <p:cNvSpPr/>
          <p:nvPr/>
        </p:nvSpPr>
        <p:spPr>
          <a:xfrm>
            <a:off x="52200" y="6392520"/>
            <a:ext cx="1301040" cy="39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303B3F"/>
                </a:solidFill>
                <a:latin typeface="Nunito"/>
                <a:ea typeface="Nunito"/>
              </a:rPr>
              <a:t>ESRG</a:t>
            </a:r>
            <a:r>
              <a:rPr lang="en-US" sz="1600" b="1" strike="noStrike" spc="-1">
                <a:solidFill>
                  <a:srgbClr val="8498A0"/>
                </a:solidFill>
                <a:latin typeface="Nunito"/>
                <a:ea typeface="Nunito"/>
              </a:rPr>
              <a:t>v3</a:t>
            </a:r>
            <a:endParaRPr lang="pt-PT" sz="1600" b="0" strike="noStrike" spc="-1">
              <a:latin typeface="Arial"/>
            </a:endParaRPr>
          </a:p>
        </p:txBody>
      </p:sp>
      <p:sp>
        <p:nvSpPr>
          <p:cNvPr id="71" name="CustomShape 5"/>
          <p:cNvSpPr/>
          <p:nvPr/>
        </p:nvSpPr>
        <p:spPr>
          <a:xfrm>
            <a:off x="10563120" y="6392520"/>
            <a:ext cx="162828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000" b="1" strike="noStrike" spc="-1" dirty="0">
              <a:solidFill>
                <a:srgbClr val="8498A0"/>
              </a:solidFill>
              <a:latin typeface="Nunito"/>
            </a:endParaRPr>
          </a:p>
        </p:txBody>
      </p:sp>
      <p:sp>
        <p:nvSpPr>
          <p:cNvPr id="72" name="CustomShape 6"/>
          <p:cNvSpPr/>
          <p:nvPr/>
        </p:nvSpPr>
        <p:spPr>
          <a:xfrm>
            <a:off x="0" y="1467360"/>
            <a:ext cx="12191760" cy="3083040"/>
          </a:xfrm>
          <a:prstGeom prst="rect">
            <a:avLst/>
          </a:prstGeom>
          <a:solidFill>
            <a:srgbClr val="8498A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3" name="CustomShape 7"/>
          <p:cNvSpPr/>
          <p:nvPr/>
        </p:nvSpPr>
        <p:spPr>
          <a:xfrm>
            <a:off x="361440" y="1467360"/>
            <a:ext cx="3784680" cy="4741920"/>
          </a:xfrm>
          <a:prstGeom prst="rect">
            <a:avLst/>
          </a:prstGeom>
          <a:solidFill>
            <a:srgbClr val="303B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4" name="CustomShape 8"/>
          <p:cNvSpPr/>
          <p:nvPr/>
        </p:nvSpPr>
        <p:spPr>
          <a:xfrm>
            <a:off x="4146840" y="4580640"/>
            <a:ext cx="8044920" cy="162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endParaRPr lang="en-US" sz="2400" b="1" strike="noStrike" spc="-1" dirty="0">
              <a:solidFill>
                <a:srgbClr val="303B3F"/>
              </a:solidFill>
              <a:latin typeface="Nunito"/>
            </a:endParaRPr>
          </a:p>
        </p:txBody>
      </p:sp>
      <p:pic>
        <p:nvPicPr>
          <p:cNvPr id="2" name="Imagem 2" descr="Uma imagem com texto&#10;&#10;Descrição gerada automaticamente">
            <a:extLst>
              <a:ext uri="{FF2B5EF4-FFF2-40B4-BE49-F238E27FC236}">
                <a16:creationId xmlns:a16="http://schemas.microsoft.com/office/drawing/2014/main" id="{3669F77E-1039-4AD9-93DA-11EC00581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114" y="2633202"/>
            <a:ext cx="3774750" cy="241061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46F903E-0DB8-473F-9FFE-73D942392679}"/>
              </a:ext>
            </a:extLst>
          </p:cNvPr>
          <p:cNvSpPr txBox="1"/>
          <p:nvPr/>
        </p:nvSpPr>
        <p:spPr>
          <a:xfrm>
            <a:off x="4417199" y="1712413"/>
            <a:ext cx="750617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PT" dirty="0">
                <a:latin typeface="Nunito"/>
              </a:rPr>
              <a:t>Technology that allows recording digital </a:t>
            </a:r>
            <a:r>
              <a:rPr lang="pt-PT" dirty="0" err="1">
                <a:latin typeface="Nunito"/>
              </a:rPr>
              <a:t>information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that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can't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be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changed</a:t>
            </a:r>
            <a:r>
              <a:rPr lang="pt-PT" dirty="0">
                <a:latin typeface="Nunito"/>
              </a:rPr>
              <a:t>, </a:t>
            </a:r>
            <a:r>
              <a:rPr lang="pt-PT" dirty="0" err="1">
                <a:latin typeface="Nunito"/>
              </a:rPr>
              <a:t>hacked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or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cheated</a:t>
            </a:r>
            <a:r>
              <a:rPr lang="pt-PT" dirty="0">
                <a:latin typeface="Nunito"/>
              </a:rPr>
              <a:t>.</a:t>
            </a:r>
          </a:p>
          <a:p>
            <a:pPr marL="285750" indent="-285750">
              <a:buFont typeface="Arial"/>
              <a:buChar char="•"/>
            </a:pPr>
            <a:endParaRPr lang="pt-PT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ustomShape 1"/>
          <p:cNvSpPr/>
          <p:nvPr/>
        </p:nvSpPr>
        <p:spPr>
          <a:xfrm>
            <a:off x="361440" y="1467360"/>
            <a:ext cx="3784680" cy="47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FFFFFF"/>
                </a:solidFill>
                <a:latin typeface="Nunito"/>
                <a:ea typeface="Nunito"/>
              </a:rPr>
              <a:t>“...”</a:t>
            </a:r>
            <a:endParaRPr lang="pt-PT" sz="1700" b="0" strike="noStrike" spc="-1">
              <a:latin typeface="Arial"/>
            </a:endParaRPr>
          </a:p>
        </p:txBody>
      </p:sp>
      <p:sp>
        <p:nvSpPr>
          <p:cNvPr id="68" name="CustomShape 2"/>
          <p:cNvSpPr/>
          <p:nvPr/>
        </p:nvSpPr>
        <p:spPr>
          <a:xfrm>
            <a:off x="0" y="241200"/>
            <a:ext cx="12191760" cy="68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-US" sz="4400" b="1" spc="-1" dirty="0">
                <a:solidFill>
                  <a:srgbClr val="303B3F"/>
                </a:solidFill>
                <a:latin typeface="Nunito"/>
              </a:rPr>
              <a:t>Block</a:t>
            </a:r>
            <a:r>
              <a:rPr lang="en-US" sz="4400" b="1" spc="-1" dirty="0">
                <a:solidFill>
                  <a:srgbClr val="1694B2"/>
                </a:solidFill>
                <a:latin typeface="Nunito"/>
              </a:rPr>
              <a:t>chain</a:t>
            </a:r>
            <a:endParaRPr lang="pt-PT" dirty="0"/>
          </a:p>
        </p:txBody>
      </p:sp>
      <p:sp>
        <p:nvSpPr>
          <p:cNvPr id="69" name="CustomShape 3"/>
          <p:cNvSpPr/>
          <p:nvPr/>
        </p:nvSpPr>
        <p:spPr>
          <a:xfrm>
            <a:off x="0" y="6507720"/>
            <a:ext cx="12191760" cy="21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fld id="{F9996F74-2EDF-4481-B7BF-255BD9EE71ED}" type="slidenum">
              <a:rPr lang="en-US" sz="1200" b="0" strike="noStrike" spc="-1">
                <a:solidFill>
                  <a:srgbClr val="8498A0"/>
                </a:solidFill>
                <a:latin typeface="Nunito"/>
                <a:ea typeface="Nunito"/>
              </a:rPr>
              <a:t>4</a:t>
            </a:fld>
            <a:endParaRPr lang="pt-PT" sz="1200" b="0" strike="noStrike" spc="-1">
              <a:latin typeface="Arial"/>
            </a:endParaRPr>
          </a:p>
        </p:txBody>
      </p:sp>
      <p:sp>
        <p:nvSpPr>
          <p:cNvPr id="70" name="CustomShape 4"/>
          <p:cNvSpPr/>
          <p:nvPr/>
        </p:nvSpPr>
        <p:spPr>
          <a:xfrm>
            <a:off x="52200" y="6392520"/>
            <a:ext cx="1301040" cy="39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303B3F"/>
                </a:solidFill>
                <a:latin typeface="Nunito"/>
                <a:ea typeface="Nunito"/>
              </a:rPr>
              <a:t>ESRG</a:t>
            </a:r>
            <a:r>
              <a:rPr lang="en-US" sz="1600" b="1" strike="noStrike" spc="-1">
                <a:solidFill>
                  <a:srgbClr val="8498A0"/>
                </a:solidFill>
                <a:latin typeface="Nunito"/>
                <a:ea typeface="Nunito"/>
              </a:rPr>
              <a:t>v3</a:t>
            </a:r>
            <a:endParaRPr lang="pt-PT" sz="1600" b="0" strike="noStrike" spc="-1">
              <a:latin typeface="Arial"/>
            </a:endParaRPr>
          </a:p>
        </p:txBody>
      </p:sp>
      <p:sp>
        <p:nvSpPr>
          <p:cNvPr id="71" name="CustomShape 5"/>
          <p:cNvSpPr/>
          <p:nvPr/>
        </p:nvSpPr>
        <p:spPr>
          <a:xfrm>
            <a:off x="10563120" y="6392520"/>
            <a:ext cx="162828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000" b="1" strike="noStrike" spc="-1" dirty="0">
              <a:solidFill>
                <a:srgbClr val="8498A0"/>
              </a:solidFill>
              <a:latin typeface="Nunito"/>
            </a:endParaRPr>
          </a:p>
        </p:txBody>
      </p:sp>
      <p:sp>
        <p:nvSpPr>
          <p:cNvPr id="72" name="CustomShape 6"/>
          <p:cNvSpPr/>
          <p:nvPr/>
        </p:nvSpPr>
        <p:spPr>
          <a:xfrm>
            <a:off x="0" y="1467360"/>
            <a:ext cx="12191760" cy="3083040"/>
          </a:xfrm>
          <a:prstGeom prst="rect">
            <a:avLst/>
          </a:prstGeom>
          <a:solidFill>
            <a:srgbClr val="8498A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3" name="CustomShape 7"/>
          <p:cNvSpPr/>
          <p:nvPr/>
        </p:nvSpPr>
        <p:spPr>
          <a:xfrm>
            <a:off x="361440" y="1467360"/>
            <a:ext cx="3784680" cy="4741920"/>
          </a:xfrm>
          <a:prstGeom prst="rect">
            <a:avLst/>
          </a:prstGeom>
          <a:solidFill>
            <a:srgbClr val="303B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4" name="CustomShape 8"/>
          <p:cNvSpPr/>
          <p:nvPr/>
        </p:nvSpPr>
        <p:spPr>
          <a:xfrm>
            <a:off x="4146840" y="4580640"/>
            <a:ext cx="8044920" cy="162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endParaRPr lang="en-US" sz="2400" b="1" strike="noStrike" spc="-1" dirty="0">
              <a:solidFill>
                <a:srgbClr val="303B3F"/>
              </a:solidFill>
              <a:latin typeface="Nunito"/>
            </a:endParaRPr>
          </a:p>
        </p:txBody>
      </p:sp>
      <p:pic>
        <p:nvPicPr>
          <p:cNvPr id="2" name="Imagem 2" descr="Uma imagem com texto&#10;&#10;Descrição gerada automaticamente">
            <a:extLst>
              <a:ext uri="{FF2B5EF4-FFF2-40B4-BE49-F238E27FC236}">
                <a16:creationId xmlns:a16="http://schemas.microsoft.com/office/drawing/2014/main" id="{3669F77E-1039-4AD9-93DA-11EC00581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114" y="2633202"/>
            <a:ext cx="3774750" cy="241061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46F903E-0DB8-473F-9FFE-73D942392679}"/>
              </a:ext>
            </a:extLst>
          </p:cNvPr>
          <p:cNvSpPr txBox="1"/>
          <p:nvPr/>
        </p:nvSpPr>
        <p:spPr>
          <a:xfrm>
            <a:off x="4417199" y="1712413"/>
            <a:ext cx="7506176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PT" dirty="0">
                <a:latin typeface="Nunito"/>
              </a:rPr>
              <a:t>Technology that allows recording digital </a:t>
            </a:r>
            <a:r>
              <a:rPr lang="pt-PT" dirty="0" err="1">
                <a:latin typeface="Nunito"/>
              </a:rPr>
              <a:t>information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that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can't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be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changed</a:t>
            </a:r>
            <a:r>
              <a:rPr lang="pt-PT" dirty="0">
                <a:latin typeface="Nunito"/>
              </a:rPr>
              <a:t>, </a:t>
            </a:r>
            <a:r>
              <a:rPr lang="pt-PT" dirty="0" err="1">
                <a:latin typeface="Nunito"/>
              </a:rPr>
              <a:t>hacked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or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cheated</a:t>
            </a:r>
            <a:r>
              <a:rPr lang="pt-PT" dirty="0">
                <a:latin typeface="Nunito"/>
              </a:rPr>
              <a:t>.</a:t>
            </a:r>
            <a:br>
              <a:rPr lang="pt-PT" dirty="0">
                <a:latin typeface="Nunito"/>
              </a:rPr>
            </a:br>
            <a:endParaRPr lang="pt-PT">
              <a:latin typeface="Nunito"/>
            </a:endParaRPr>
          </a:p>
          <a:p>
            <a:pPr marL="285750" indent="-285750">
              <a:buFont typeface="Arial"/>
              <a:buChar char="•"/>
            </a:pPr>
            <a:r>
              <a:rPr lang="pt-PT" dirty="0" err="1">
                <a:latin typeface="Nunito"/>
              </a:rPr>
              <a:t>Transactions</a:t>
            </a:r>
            <a:r>
              <a:rPr lang="pt-PT" dirty="0">
                <a:latin typeface="Nunito"/>
              </a:rPr>
              <a:t> are </a:t>
            </a:r>
            <a:r>
              <a:rPr lang="pt-PT" dirty="0" err="1">
                <a:latin typeface="Nunito"/>
              </a:rPr>
              <a:t>duplicated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and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distributed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across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the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entire</a:t>
            </a:r>
            <a:r>
              <a:rPr lang="pt-PT" dirty="0">
                <a:latin typeface="Nunito"/>
              </a:rPr>
              <a:t> network </a:t>
            </a:r>
            <a:r>
              <a:rPr lang="pt-PT" dirty="0" err="1">
                <a:latin typeface="Nunito"/>
              </a:rPr>
              <a:t>of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computers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on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the</a:t>
            </a:r>
            <a:r>
              <a:rPr lang="pt-PT" dirty="0">
                <a:latin typeface="Nunito"/>
              </a:rPr>
              <a:t> blockchain.</a:t>
            </a:r>
            <a:br>
              <a:rPr lang="pt-PT" dirty="0">
                <a:latin typeface="Nunito"/>
              </a:rPr>
            </a:br>
            <a:endParaRPr lang="pt-PT" dirty="0"/>
          </a:p>
          <a:p>
            <a:pPr marL="285750" indent="-285750">
              <a:buFont typeface="Arial"/>
              <a:buChar char="•"/>
            </a:pP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904588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ustomShape 1"/>
          <p:cNvSpPr/>
          <p:nvPr/>
        </p:nvSpPr>
        <p:spPr>
          <a:xfrm>
            <a:off x="361440" y="1467360"/>
            <a:ext cx="3784680" cy="47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FFFFFF"/>
                </a:solidFill>
                <a:latin typeface="Nunito"/>
                <a:ea typeface="Nunito"/>
              </a:rPr>
              <a:t>“...”</a:t>
            </a:r>
            <a:endParaRPr lang="pt-PT" sz="1700" b="0" strike="noStrike" spc="-1">
              <a:latin typeface="Arial"/>
            </a:endParaRPr>
          </a:p>
        </p:txBody>
      </p:sp>
      <p:sp>
        <p:nvSpPr>
          <p:cNvPr id="68" name="CustomShape 2"/>
          <p:cNvSpPr/>
          <p:nvPr/>
        </p:nvSpPr>
        <p:spPr>
          <a:xfrm>
            <a:off x="0" y="252659"/>
            <a:ext cx="12191760" cy="68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-US" sz="4400" b="1" spc="-1" dirty="0">
                <a:solidFill>
                  <a:srgbClr val="303B3F"/>
                </a:solidFill>
                <a:latin typeface="nunito"/>
              </a:rPr>
              <a:t>Block</a:t>
            </a:r>
            <a:r>
              <a:rPr lang="en-US" sz="4400" b="1" spc="-1" dirty="0">
                <a:solidFill>
                  <a:srgbClr val="1694B2"/>
                </a:solidFill>
                <a:latin typeface="nunito"/>
              </a:rPr>
              <a:t>chain</a:t>
            </a:r>
            <a:endParaRPr lang="pt-PT" sz="4400" b="1" strike="noStrike" spc="-1" dirty="0">
              <a:solidFill>
                <a:srgbClr val="000000"/>
              </a:solidFill>
              <a:latin typeface="nunito"/>
            </a:endParaRPr>
          </a:p>
        </p:txBody>
      </p:sp>
      <p:sp>
        <p:nvSpPr>
          <p:cNvPr id="69" name="CustomShape 3"/>
          <p:cNvSpPr/>
          <p:nvPr/>
        </p:nvSpPr>
        <p:spPr>
          <a:xfrm>
            <a:off x="0" y="6507720"/>
            <a:ext cx="12191760" cy="21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fld id="{F9996F74-2EDF-4481-B7BF-255BD9EE71ED}" type="slidenum">
              <a:rPr lang="en-US" sz="1200" b="0" strike="noStrike" spc="-1">
                <a:solidFill>
                  <a:srgbClr val="8498A0"/>
                </a:solidFill>
                <a:latin typeface="Nunito"/>
                <a:ea typeface="Nunito"/>
              </a:rPr>
              <a:t>5</a:t>
            </a:fld>
            <a:endParaRPr lang="pt-PT" sz="1200" b="0" strike="noStrike" spc="-1">
              <a:latin typeface="Arial"/>
            </a:endParaRPr>
          </a:p>
        </p:txBody>
      </p:sp>
      <p:sp>
        <p:nvSpPr>
          <p:cNvPr id="70" name="CustomShape 4"/>
          <p:cNvSpPr/>
          <p:nvPr/>
        </p:nvSpPr>
        <p:spPr>
          <a:xfrm>
            <a:off x="52200" y="6392520"/>
            <a:ext cx="1301040" cy="39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303B3F"/>
                </a:solidFill>
                <a:latin typeface="Nunito"/>
                <a:ea typeface="Nunito"/>
              </a:rPr>
              <a:t>ESRG</a:t>
            </a:r>
            <a:r>
              <a:rPr lang="en-US" sz="1600" b="1" strike="noStrike" spc="-1">
                <a:solidFill>
                  <a:srgbClr val="8498A0"/>
                </a:solidFill>
                <a:latin typeface="Nunito"/>
                <a:ea typeface="Nunito"/>
              </a:rPr>
              <a:t>v3</a:t>
            </a:r>
            <a:endParaRPr lang="pt-PT" sz="1600" b="0" strike="noStrike" spc="-1">
              <a:latin typeface="Arial"/>
            </a:endParaRPr>
          </a:p>
        </p:txBody>
      </p:sp>
      <p:sp>
        <p:nvSpPr>
          <p:cNvPr id="71" name="CustomShape 5"/>
          <p:cNvSpPr/>
          <p:nvPr/>
        </p:nvSpPr>
        <p:spPr>
          <a:xfrm>
            <a:off x="10563120" y="6392520"/>
            <a:ext cx="162828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000" b="1" strike="noStrike" spc="-1" dirty="0">
              <a:solidFill>
                <a:srgbClr val="8498A0"/>
              </a:solidFill>
              <a:latin typeface="Nunito"/>
            </a:endParaRPr>
          </a:p>
        </p:txBody>
      </p:sp>
      <p:sp>
        <p:nvSpPr>
          <p:cNvPr id="72" name="CustomShape 6"/>
          <p:cNvSpPr/>
          <p:nvPr/>
        </p:nvSpPr>
        <p:spPr>
          <a:xfrm>
            <a:off x="0" y="1467360"/>
            <a:ext cx="12191760" cy="3083040"/>
          </a:xfrm>
          <a:prstGeom prst="rect">
            <a:avLst/>
          </a:prstGeom>
          <a:solidFill>
            <a:srgbClr val="8498A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3" name="CustomShape 7"/>
          <p:cNvSpPr/>
          <p:nvPr/>
        </p:nvSpPr>
        <p:spPr>
          <a:xfrm>
            <a:off x="361440" y="1467360"/>
            <a:ext cx="3784680" cy="4741920"/>
          </a:xfrm>
          <a:prstGeom prst="rect">
            <a:avLst/>
          </a:prstGeom>
          <a:solidFill>
            <a:srgbClr val="303B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4" name="CustomShape 8"/>
          <p:cNvSpPr/>
          <p:nvPr/>
        </p:nvSpPr>
        <p:spPr>
          <a:xfrm>
            <a:off x="4146840" y="4580640"/>
            <a:ext cx="8044920" cy="162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endParaRPr lang="en-US" sz="2400" b="1" strike="noStrike" spc="-1" dirty="0">
              <a:solidFill>
                <a:srgbClr val="303B3F"/>
              </a:solidFill>
              <a:latin typeface="Nunito"/>
            </a:endParaRPr>
          </a:p>
        </p:txBody>
      </p:sp>
      <p:pic>
        <p:nvPicPr>
          <p:cNvPr id="2" name="Imagem 2" descr="Uma imagem com texto&#10;&#10;Descrição gerada automaticamente">
            <a:extLst>
              <a:ext uri="{FF2B5EF4-FFF2-40B4-BE49-F238E27FC236}">
                <a16:creationId xmlns:a16="http://schemas.microsoft.com/office/drawing/2014/main" id="{3669F77E-1039-4AD9-93DA-11EC00581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114" y="2633202"/>
            <a:ext cx="3774750" cy="241061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46F903E-0DB8-473F-9FFE-73D942392679}"/>
              </a:ext>
            </a:extLst>
          </p:cNvPr>
          <p:cNvSpPr txBox="1"/>
          <p:nvPr/>
        </p:nvSpPr>
        <p:spPr>
          <a:xfrm>
            <a:off x="4417199" y="1712413"/>
            <a:ext cx="7506176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PT" dirty="0">
                <a:latin typeface="Nunito"/>
              </a:rPr>
              <a:t>Technology that allows recording digital </a:t>
            </a:r>
            <a:r>
              <a:rPr lang="pt-PT" dirty="0" err="1">
                <a:latin typeface="Nunito"/>
              </a:rPr>
              <a:t>information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that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can't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be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changed</a:t>
            </a:r>
            <a:r>
              <a:rPr lang="pt-PT" dirty="0">
                <a:latin typeface="Nunito"/>
              </a:rPr>
              <a:t>, </a:t>
            </a:r>
            <a:r>
              <a:rPr lang="pt-PT" dirty="0" err="1">
                <a:latin typeface="Nunito"/>
              </a:rPr>
              <a:t>hacked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or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cheated</a:t>
            </a:r>
            <a:r>
              <a:rPr lang="pt-PT" dirty="0">
                <a:latin typeface="Nunito"/>
              </a:rPr>
              <a:t>.</a:t>
            </a:r>
            <a:br>
              <a:rPr lang="pt-PT" dirty="0">
                <a:latin typeface="Nunito"/>
              </a:rPr>
            </a:br>
            <a:endParaRPr lang="pt-PT">
              <a:latin typeface="Nunito"/>
            </a:endParaRPr>
          </a:p>
          <a:p>
            <a:pPr marL="285750" indent="-285750">
              <a:buFont typeface="Arial"/>
              <a:buChar char="•"/>
            </a:pPr>
            <a:r>
              <a:rPr lang="pt-PT" dirty="0" err="1">
                <a:latin typeface="Nunito"/>
              </a:rPr>
              <a:t>Transactions</a:t>
            </a:r>
            <a:r>
              <a:rPr lang="pt-PT" dirty="0">
                <a:latin typeface="Nunito"/>
              </a:rPr>
              <a:t> are </a:t>
            </a:r>
            <a:r>
              <a:rPr lang="pt-PT" dirty="0" err="1">
                <a:latin typeface="Nunito"/>
              </a:rPr>
              <a:t>duplicated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and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distributed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across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the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entire</a:t>
            </a:r>
            <a:r>
              <a:rPr lang="pt-PT" dirty="0">
                <a:latin typeface="Nunito"/>
              </a:rPr>
              <a:t> network </a:t>
            </a:r>
            <a:r>
              <a:rPr lang="pt-PT" dirty="0" err="1">
                <a:latin typeface="Nunito"/>
              </a:rPr>
              <a:t>of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computers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on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the</a:t>
            </a:r>
            <a:r>
              <a:rPr lang="pt-PT" dirty="0">
                <a:latin typeface="Nunito"/>
              </a:rPr>
              <a:t> blockchain.</a:t>
            </a:r>
            <a:br>
              <a:rPr lang="pt-PT" dirty="0">
                <a:latin typeface="Nunito"/>
              </a:rPr>
            </a:br>
            <a:endParaRPr lang="pt-PT">
              <a:latin typeface="Nunito"/>
            </a:endParaRPr>
          </a:p>
          <a:p>
            <a:pPr marL="285750" indent="-285750">
              <a:buFont typeface="Arial"/>
              <a:buChar char="•"/>
            </a:pPr>
            <a:r>
              <a:rPr lang="pt-PT" dirty="0" err="1">
                <a:latin typeface="Nunito"/>
                <a:ea typeface="+mn-lt"/>
                <a:cs typeface="+mn-lt"/>
              </a:rPr>
              <a:t>Nowadays</a:t>
            </a:r>
            <a:r>
              <a:rPr lang="pt-PT" dirty="0">
                <a:latin typeface="Nunito"/>
                <a:ea typeface="+mn-lt"/>
                <a:cs typeface="+mn-lt"/>
              </a:rPr>
              <a:t>, Blockchain </a:t>
            </a:r>
            <a:r>
              <a:rPr lang="pt-PT" dirty="0" err="1">
                <a:latin typeface="Nunito"/>
                <a:ea typeface="+mn-lt"/>
                <a:cs typeface="+mn-lt"/>
              </a:rPr>
              <a:t>is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often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associated</a:t>
            </a:r>
            <a:r>
              <a:rPr lang="pt-PT" dirty="0">
                <a:latin typeface="Nunito"/>
                <a:ea typeface="+mn-lt"/>
                <a:cs typeface="+mn-lt"/>
              </a:rPr>
              <a:t> to </a:t>
            </a:r>
            <a:r>
              <a:rPr lang="pt-PT" dirty="0" err="1">
                <a:latin typeface="Nunito"/>
                <a:ea typeface="+mn-lt"/>
                <a:cs typeface="+mn-lt"/>
              </a:rPr>
              <a:t>cryptocurrency</a:t>
            </a:r>
            <a:r>
              <a:rPr lang="pt-PT" dirty="0">
                <a:latin typeface="Nunito"/>
                <a:ea typeface="+mn-lt"/>
                <a:cs typeface="+mn-lt"/>
              </a:rPr>
              <a:t>, </a:t>
            </a:r>
            <a:r>
              <a:rPr lang="pt-PT" dirty="0" err="1">
                <a:latin typeface="Nunito"/>
                <a:ea typeface="+mn-lt"/>
                <a:cs typeface="+mn-lt"/>
              </a:rPr>
              <a:t>because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is</a:t>
            </a:r>
            <a:r>
              <a:rPr lang="pt-PT" dirty="0">
                <a:latin typeface="Nunito"/>
                <a:ea typeface="+mn-lt"/>
                <a:cs typeface="+mn-lt"/>
              </a:rPr>
              <a:t> </a:t>
            </a:r>
            <a:r>
              <a:rPr lang="pt-PT" dirty="0" err="1">
                <a:latin typeface="Nunito"/>
                <a:ea typeface="+mn-lt"/>
                <a:cs typeface="+mn-lt"/>
              </a:rPr>
              <a:t>the</a:t>
            </a:r>
            <a:r>
              <a:rPr lang="pt-PT" dirty="0">
                <a:latin typeface="Nunito"/>
                <a:ea typeface="+mn-lt"/>
                <a:cs typeface="+mn-lt"/>
              </a:rPr>
              <a:t> core </a:t>
            </a:r>
            <a:r>
              <a:rPr lang="pt-PT" dirty="0" err="1">
                <a:latin typeface="Nunito"/>
                <a:ea typeface="+mn-lt"/>
                <a:cs typeface="+mn-lt"/>
              </a:rPr>
              <a:t>technology</a:t>
            </a:r>
            <a:r>
              <a:rPr lang="pt-PT" dirty="0">
                <a:latin typeface="Nunito"/>
                <a:ea typeface="+mn-lt"/>
                <a:cs typeface="+mn-lt"/>
              </a:rPr>
              <a:t> </a:t>
            </a:r>
            <a:r>
              <a:rPr lang="pt-PT" dirty="0" err="1">
                <a:latin typeface="Nunito"/>
                <a:ea typeface="+mn-lt"/>
                <a:cs typeface="+mn-lt"/>
              </a:rPr>
              <a:t>behind</a:t>
            </a:r>
            <a:r>
              <a:rPr lang="pt-PT" dirty="0">
                <a:latin typeface="Nunito"/>
                <a:ea typeface="+mn-lt"/>
                <a:cs typeface="+mn-lt"/>
              </a:rPr>
              <a:t>, Bitcoin </a:t>
            </a:r>
            <a:r>
              <a:rPr lang="pt-PT" dirty="0" err="1">
                <a:latin typeface="Nunito"/>
                <a:ea typeface="+mn-lt"/>
                <a:cs typeface="+mn-lt"/>
              </a:rPr>
              <a:t>and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Ethereum</a:t>
            </a:r>
            <a:r>
              <a:rPr lang="pt-PT" dirty="0">
                <a:latin typeface="Nunito"/>
                <a:ea typeface="+mn-lt"/>
                <a:cs typeface="+mn-lt"/>
              </a:rPr>
              <a:t>.</a:t>
            </a:r>
            <a:endParaRPr lang="pt-PT" dirty="0">
              <a:latin typeface="Nunito"/>
            </a:endParaRPr>
          </a:p>
          <a:p>
            <a:pPr marL="285750" indent="-285750">
              <a:buFont typeface="Arial"/>
              <a:buChar char="•"/>
            </a:pP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13325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ustomShape 1"/>
          <p:cNvSpPr/>
          <p:nvPr/>
        </p:nvSpPr>
        <p:spPr>
          <a:xfrm>
            <a:off x="361440" y="1467360"/>
            <a:ext cx="3784680" cy="47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FFFFFF"/>
                </a:solidFill>
                <a:latin typeface="Nunito"/>
                <a:ea typeface="Nunito"/>
              </a:rPr>
              <a:t>“...”</a:t>
            </a:r>
            <a:endParaRPr lang="pt-PT" sz="1700" b="0" strike="noStrike" spc="-1">
              <a:latin typeface="Arial"/>
            </a:endParaRPr>
          </a:p>
        </p:txBody>
      </p:sp>
      <p:sp>
        <p:nvSpPr>
          <p:cNvPr id="68" name="CustomShape 2"/>
          <p:cNvSpPr/>
          <p:nvPr/>
        </p:nvSpPr>
        <p:spPr>
          <a:xfrm>
            <a:off x="0" y="252659"/>
            <a:ext cx="12191760" cy="68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-US" sz="4400" b="1" spc="-1" dirty="0">
                <a:solidFill>
                  <a:srgbClr val="303B3F"/>
                </a:solidFill>
                <a:latin typeface="nunito"/>
              </a:rPr>
              <a:t>Block</a:t>
            </a:r>
            <a:r>
              <a:rPr lang="en-US" sz="4400" b="1" spc="-1" dirty="0">
                <a:solidFill>
                  <a:srgbClr val="1694B2"/>
                </a:solidFill>
                <a:latin typeface="nunito"/>
              </a:rPr>
              <a:t>chain</a:t>
            </a:r>
            <a:endParaRPr lang="pt-PT" sz="4400" b="1" strike="noStrike" spc="-1" dirty="0">
              <a:solidFill>
                <a:srgbClr val="000000"/>
              </a:solidFill>
              <a:latin typeface="nunito"/>
            </a:endParaRPr>
          </a:p>
        </p:txBody>
      </p:sp>
      <p:sp>
        <p:nvSpPr>
          <p:cNvPr id="69" name="CustomShape 3"/>
          <p:cNvSpPr/>
          <p:nvPr/>
        </p:nvSpPr>
        <p:spPr>
          <a:xfrm>
            <a:off x="0" y="6507720"/>
            <a:ext cx="12191760" cy="21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fld id="{F9996F74-2EDF-4481-B7BF-255BD9EE71ED}" type="slidenum">
              <a:rPr lang="en-US" sz="1200" b="0" strike="noStrike" spc="-1">
                <a:solidFill>
                  <a:srgbClr val="8498A0"/>
                </a:solidFill>
                <a:latin typeface="Nunito"/>
                <a:ea typeface="Nunito"/>
              </a:rPr>
              <a:t>6</a:t>
            </a:fld>
            <a:endParaRPr lang="pt-PT" sz="1200" b="0" strike="noStrike" spc="-1">
              <a:latin typeface="Arial"/>
            </a:endParaRPr>
          </a:p>
        </p:txBody>
      </p:sp>
      <p:sp>
        <p:nvSpPr>
          <p:cNvPr id="70" name="CustomShape 4"/>
          <p:cNvSpPr/>
          <p:nvPr/>
        </p:nvSpPr>
        <p:spPr>
          <a:xfrm>
            <a:off x="52200" y="6392520"/>
            <a:ext cx="1301040" cy="39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303B3F"/>
                </a:solidFill>
                <a:latin typeface="Nunito"/>
                <a:ea typeface="Nunito"/>
              </a:rPr>
              <a:t>ESRG</a:t>
            </a:r>
            <a:r>
              <a:rPr lang="en-US" sz="1600" b="1" strike="noStrike" spc="-1">
                <a:solidFill>
                  <a:srgbClr val="8498A0"/>
                </a:solidFill>
                <a:latin typeface="Nunito"/>
                <a:ea typeface="Nunito"/>
              </a:rPr>
              <a:t>v3</a:t>
            </a:r>
            <a:endParaRPr lang="pt-PT" sz="1600" b="0" strike="noStrike" spc="-1">
              <a:latin typeface="Arial"/>
            </a:endParaRPr>
          </a:p>
        </p:txBody>
      </p:sp>
      <p:sp>
        <p:nvSpPr>
          <p:cNvPr id="71" name="CustomShape 5"/>
          <p:cNvSpPr/>
          <p:nvPr/>
        </p:nvSpPr>
        <p:spPr>
          <a:xfrm>
            <a:off x="10563120" y="6392520"/>
            <a:ext cx="162828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000" b="1" strike="noStrike" spc="-1" dirty="0">
              <a:solidFill>
                <a:srgbClr val="8498A0"/>
              </a:solidFill>
              <a:latin typeface="Nunito"/>
            </a:endParaRPr>
          </a:p>
        </p:txBody>
      </p:sp>
      <p:sp>
        <p:nvSpPr>
          <p:cNvPr id="72" name="CustomShape 6"/>
          <p:cNvSpPr/>
          <p:nvPr/>
        </p:nvSpPr>
        <p:spPr>
          <a:xfrm>
            <a:off x="0" y="1467360"/>
            <a:ext cx="12191760" cy="3083040"/>
          </a:xfrm>
          <a:prstGeom prst="rect">
            <a:avLst/>
          </a:prstGeom>
          <a:solidFill>
            <a:srgbClr val="8498A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3" name="CustomShape 7"/>
          <p:cNvSpPr/>
          <p:nvPr/>
        </p:nvSpPr>
        <p:spPr>
          <a:xfrm>
            <a:off x="361440" y="1467360"/>
            <a:ext cx="3784680" cy="4741920"/>
          </a:xfrm>
          <a:prstGeom prst="rect">
            <a:avLst/>
          </a:prstGeom>
          <a:solidFill>
            <a:srgbClr val="303B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4" name="CustomShape 8"/>
          <p:cNvSpPr/>
          <p:nvPr/>
        </p:nvSpPr>
        <p:spPr>
          <a:xfrm>
            <a:off x="4146840" y="4580640"/>
            <a:ext cx="8044920" cy="162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endParaRPr lang="en-US" sz="2400" b="1" strike="noStrike" spc="-1" dirty="0">
              <a:solidFill>
                <a:srgbClr val="303B3F"/>
              </a:solidFill>
              <a:latin typeface="Nunito"/>
            </a:endParaRPr>
          </a:p>
        </p:txBody>
      </p:sp>
      <p:pic>
        <p:nvPicPr>
          <p:cNvPr id="2" name="Imagem 2" descr="Uma imagem com texto&#10;&#10;Descrição gerada automaticamente">
            <a:extLst>
              <a:ext uri="{FF2B5EF4-FFF2-40B4-BE49-F238E27FC236}">
                <a16:creationId xmlns:a16="http://schemas.microsoft.com/office/drawing/2014/main" id="{3669F77E-1039-4AD9-93DA-11EC00581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114" y="2633202"/>
            <a:ext cx="3774750" cy="241061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46F903E-0DB8-473F-9FFE-73D942392679}"/>
              </a:ext>
            </a:extLst>
          </p:cNvPr>
          <p:cNvSpPr txBox="1"/>
          <p:nvPr/>
        </p:nvSpPr>
        <p:spPr>
          <a:xfrm>
            <a:off x="4417199" y="1712413"/>
            <a:ext cx="7506176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PT" dirty="0">
                <a:latin typeface="Nunito"/>
              </a:rPr>
              <a:t>Technology that allows recording digital </a:t>
            </a:r>
            <a:r>
              <a:rPr lang="pt-PT" dirty="0" err="1">
                <a:latin typeface="Nunito"/>
              </a:rPr>
              <a:t>information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that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can't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be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changed</a:t>
            </a:r>
            <a:r>
              <a:rPr lang="pt-PT" dirty="0">
                <a:latin typeface="Nunito"/>
              </a:rPr>
              <a:t>, </a:t>
            </a:r>
            <a:r>
              <a:rPr lang="pt-PT" dirty="0" err="1">
                <a:latin typeface="Nunito"/>
              </a:rPr>
              <a:t>hacked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or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cheated</a:t>
            </a:r>
            <a:r>
              <a:rPr lang="pt-PT" dirty="0">
                <a:latin typeface="Nunito"/>
              </a:rPr>
              <a:t>.</a:t>
            </a:r>
            <a:br>
              <a:rPr lang="pt-PT" dirty="0">
                <a:latin typeface="Nunito"/>
              </a:rPr>
            </a:br>
            <a:endParaRPr lang="pt-PT">
              <a:latin typeface="Nunito"/>
            </a:endParaRPr>
          </a:p>
          <a:p>
            <a:pPr marL="285750" indent="-285750">
              <a:buFont typeface="Arial"/>
              <a:buChar char="•"/>
            </a:pPr>
            <a:r>
              <a:rPr lang="pt-PT" dirty="0" err="1">
                <a:latin typeface="Nunito"/>
              </a:rPr>
              <a:t>Transactions</a:t>
            </a:r>
            <a:r>
              <a:rPr lang="pt-PT" dirty="0">
                <a:latin typeface="Nunito"/>
              </a:rPr>
              <a:t> are </a:t>
            </a:r>
            <a:r>
              <a:rPr lang="pt-PT" dirty="0" err="1">
                <a:latin typeface="Nunito"/>
              </a:rPr>
              <a:t>duplicated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and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distributed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across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the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entire</a:t>
            </a:r>
            <a:r>
              <a:rPr lang="pt-PT" dirty="0">
                <a:latin typeface="Nunito"/>
              </a:rPr>
              <a:t> network </a:t>
            </a:r>
            <a:r>
              <a:rPr lang="pt-PT" dirty="0" err="1">
                <a:latin typeface="Nunito"/>
              </a:rPr>
              <a:t>of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computers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on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the</a:t>
            </a:r>
            <a:r>
              <a:rPr lang="pt-PT" dirty="0">
                <a:latin typeface="Nunito"/>
              </a:rPr>
              <a:t> blockchain.</a:t>
            </a:r>
            <a:br>
              <a:rPr lang="pt-PT" dirty="0">
                <a:latin typeface="Nunito"/>
              </a:rPr>
            </a:br>
            <a:endParaRPr lang="pt-PT">
              <a:latin typeface="Nunito"/>
            </a:endParaRPr>
          </a:p>
          <a:p>
            <a:pPr marL="285750" indent="-285750">
              <a:buFont typeface="Arial"/>
              <a:buChar char="•"/>
            </a:pPr>
            <a:r>
              <a:rPr lang="pt-PT" dirty="0" err="1">
                <a:latin typeface="Nunito"/>
                <a:ea typeface="+mn-lt"/>
                <a:cs typeface="+mn-lt"/>
              </a:rPr>
              <a:t>Nowadays</a:t>
            </a:r>
            <a:r>
              <a:rPr lang="pt-PT" dirty="0">
                <a:latin typeface="Nunito"/>
                <a:ea typeface="+mn-lt"/>
                <a:cs typeface="+mn-lt"/>
              </a:rPr>
              <a:t>, Blockchain </a:t>
            </a:r>
            <a:r>
              <a:rPr lang="pt-PT" dirty="0" err="1">
                <a:latin typeface="Nunito"/>
                <a:ea typeface="+mn-lt"/>
                <a:cs typeface="+mn-lt"/>
              </a:rPr>
              <a:t>is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often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associated</a:t>
            </a:r>
            <a:r>
              <a:rPr lang="pt-PT" dirty="0">
                <a:latin typeface="Nunito"/>
                <a:ea typeface="+mn-lt"/>
                <a:cs typeface="+mn-lt"/>
              </a:rPr>
              <a:t> to </a:t>
            </a:r>
            <a:r>
              <a:rPr lang="pt-PT" dirty="0" err="1">
                <a:latin typeface="Nunito"/>
                <a:ea typeface="+mn-lt"/>
                <a:cs typeface="+mn-lt"/>
              </a:rPr>
              <a:t>cryptocurrency</a:t>
            </a:r>
            <a:r>
              <a:rPr lang="pt-PT" dirty="0">
                <a:latin typeface="Nunito"/>
                <a:ea typeface="+mn-lt"/>
                <a:cs typeface="+mn-lt"/>
              </a:rPr>
              <a:t>, </a:t>
            </a:r>
            <a:r>
              <a:rPr lang="pt-PT" dirty="0" err="1">
                <a:latin typeface="Nunito"/>
                <a:ea typeface="+mn-lt"/>
                <a:cs typeface="+mn-lt"/>
              </a:rPr>
              <a:t>because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is</a:t>
            </a:r>
            <a:r>
              <a:rPr lang="pt-PT" dirty="0">
                <a:latin typeface="Nunito"/>
                <a:ea typeface="+mn-lt"/>
                <a:cs typeface="+mn-lt"/>
              </a:rPr>
              <a:t> </a:t>
            </a:r>
            <a:r>
              <a:rPr lang="pt-PT" dirty="0" err="1">
                <a:latin typeface="Nunito"/>
                <a:ea typeface="+mn-lt"/>
                <a:cs typeface="+mn-lt"/>
              </a:rPr>
              <a:t>the</a:t>
            </a:r>
            <a:r>
              <a:rPr lang="pt-PT" dirty="0">
                <a:latin typeface="Nunito"/>
                <a:ea typeface="+mn-lt"/>
                <a:cs typeface="+mn-lt"/>
              </a:rPr>
              <a:t> core </a:t>
            </a:r>
            <a:r>
              <a:rPr lang="pt-PT" dirty="0" err="1">
                <a:latin typeface="Nunito"/>
                <a:ea typeface="+mn-lt"/>
                <a:cs typeface="+mn-lt"/>
              </a:rPr>
              <a:t>technology</a:t>
            </a:r>
            <a:r>
              <a:rPr lang="pt-PT" dirty="0">
                <a:latin typeface="Nunito"/>
                <a:ea typeface="+mn-lt"/>
                <a:cs typeface="+mn-lt"/>
              </a:rPr>
              <a:t> </a:t>
            </a:r>
            <a:r>
              <a:rPr lang="pt-PT" dirty="0" err="1">
                <a:latin typeface="Nunito"/>
                <a:ea typeface="+mn-lt"/>
                <a:cs typeface="+mn-lt"/>
              </a:rPr>
              <a:t>behind</a:t>
            </a:r>
            <a:r>
              <a:rPr lang="pt-PT" dirty="0">
                <a:latin typeface="Nunito"/>
                <a:ea typeface="+mn-lt"/>
                <a:cs typeface="+mn-lt"/>
              </a:rPr>
              <a:t>, Bitcoin </a:t>
            </a:r>
            <a:r>
              <a:rPr lang="pt-PT" dirty="0" err="1">
                <a:latin typeface="Nunito"/>
                <a:ea typeface="+mn-lt"/>
                <a:cs typeface="+mn-lt"/>
              </a:rPr>
              <a:t>and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Ethereum</a:t>
            </a:r>
            <a:r>
              <a:rPr lang="pt-PT" dirty="0">
                <a:latin typeface="Nunito"/>
                <a:ea typeface="+mn-lt"/>
                <a:cs typeface="+mn-lt"/>
              </a:rPr>
              <a:t>.</a:t>
            </a:r>
            <a:endParaRPr lang="pt-PT" dirty="0">
              <a:latin typeface="Nunito"/>
            </a:endParaRPr>
          </a:p>
          <a:p>
            <a:pPr marL="285750" indent="-285750">
              <a:buFont typeface="Arial"/>
              <a:buChar char="•"/>
            </a:pPr>
            <a:endParaRPr lang="pt-PT" dirty="0"/>
          </a:p>
        </p:txBody>
      </p:sp>
      <p:pic>
        <p:nvPicPr>
          <p:cNvPr id="5" name="Imagem 5">
            <a:extLst>
              <a:ext uri="{FF2B5EF4-FFF2-40B4-BE49-F238E27FC236}">
                <a16:creationId xmlns:a16="http://schemas.microsoft.com/office/drawing/2014/main" id="{6F8F163D-16B0-41CC-8F3B-D9B64745A7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6969" y="4606990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070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6"/>
          <p:cNvSpPr/>
          <p:nvPr/>
        </p:nvSpPr>
        <p:spPr>
          <a:xfrm>
            <a:off x="361440" y="1467360"/>
            <a:ext cx="3784680" cy="4741920"/>
          </a:xfrm>
          <a:prstGeom prst="rect">
            <a:avLst/>
          </a:prstGeom>
          <a:solidFill>
            <a:srgbClr val="303B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5" name="Imagem 5">
            <a:extLst>
              <a:ext uri="{FF2B5EF4-FFF2-40B4-BE49-F238E27FC236}">
                <a16:creationId xmlns:a16="http://schemas.microsoft.com/office/drawing/2014/main" id="{C2AA3627-5E32-4C29-9AD7-81408A70A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760" y="1992006"/>
            <a:ext cx="1065704" cy="1060222"/>
          </a:xfrm>
          <a:prstGeom prst="rect">
            <a:avLst/>
          </a:prstGeom>
        </p:spPr>
      </p:pic>
      <p:sp>
        <p:nvSpPr>
          <p:cNvPr id="79" name="CustomShape 5"/>
          <p:cNvSpPr/>
          <p:nvPr/>
        </p:nvSpPr>
        <p:spPr>
          <a:xfrm>
            <a:off x="0" y="1467360"/>
            <a:ext cx="12191760" cy="3083040"/>
          </a:xfrm>
          <a:prstGeom prst="rect">
            <a:avLst/>
          </a:prstGeom>
          <a:solidFill>
            <a:srgbClr val="8498A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7" name="Imagem 7">
            <a:extLst>
              <a:ext uri="{FF2B5EF4-FFF2-40B4-BE49-F238E27FC236}">
                <a16:creationId xmlns:a16="http://schemas.microsoft.com/office/drawing/2014/main" id="{96C7DA9A-AEFA-42DD-8A49-4E0A38C557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862" y="2166051"/>
            <a:ext cx="1279503" cy="720748"/>
          </a:xfrm>
          <a:prstGeom prst="rect">
            <a:avLst/>
          </a:prstGeom>
        </p:spPr>
      </p:pic>
      <p:sp>
        <p:nvSpPr>
          <p:cNvPr id="75" name="CustomShape 1"/>
          <p:cNvSpPr/>
          <p:nvPr/>
        </p:nvSpPr>
        <p:spPr>
          <a:xfrm>
            <a:off x="0" y="241200"/>
            <a:ext cx="12191760" cy="68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-US" sz="4400" b="1" spc="-1" dirty="0">
                <a:solidFill>
                  <a:srgbClr val="303B3F"/>
                </a:solidFill>
                <a:latin typeface="nunito"/>
                <a:ea typeface="+mn-lt"/>
                <a:cs typeface="+mn-lt"/>
              </a:rPr>
              <a:t>Blockchain – </a:t>
            </a:r>
            <a:r>
              <a:rPr lang="en-US" sz="4400" b="1" spc="-1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Vulnerabilities</a:t>
            </a:r>
            <a:endParaRPr lang="pt-PT" b="1" dirty="0">
              <a:solidFill>
                <a:srgbClr val="000000"/>
              </a:solidFill>
              <a:latin typeface="nunito"/>
              <a:cs typeface="Arial"/>
            </a:endParaRPr>
          </a:p>
        </p:txBody>
      </p:sp>
      <p:sp>
        <p:nvSpPr>
          <p:cNvPr id="76" name="CustomShape 2"/>
          <p:cNvSpPr/>
          <p:nvPr/>
        </p:nvSpPr>
        <p:spPr>
          <a:xfrm>
            <a:off x="23446" y="5124397"/>
            <a:ext cx="12168314" cy="163737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endParaRPr lang="pt-PT" b="0" strike="noStrike" dirty="0">
              <a:latin typeface="Arial"/>
            </a:endParaRPr>
          </a:p>
        </p:txBody>
      </p:sp>
      <p:sp>
        <p:nvSpPr>
          <p:cNvPr id="77" name="CustomShape 3"/>
          <p:cNvSpPr/>
          <p:nvPr/>
        </p:nvSpPr>
        <p:spPr>
          <a:xfrm>
            <a:off x="52200" y="6392520"/>
            <a:ext cx="1301040" cy="39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303B3F"/>
                </a:solidFill>
                <a:latin typeface="Nunito"/>
                <a:ea typeface="Nunito"/>
              </a:rPr>
              <a:t>ESRG</a:t>
            </a:r>
            <a:r>
              <a:rPr lang="en-US" sz="1600" b="1" strike="noStrike" spc="-1">
                <a:solidFill>
                  <a:srgbClr val="8498A0"/>
                </a:solidFill>
                <a:latin typeface="Nunito"/>
                <a:ea typeface="Nunito"/>
              </a:rPr>
              <a:t>v3</a:t>
            </a:r>
            <a:endParaRPr lang="pt-PT" sz="1600" b="0" strike="noStrike" spc="-1">
              <a:latin typeface="Arial"/>
            </a:endParaRPr>
          </a:p>
        </p:txBody>
      </p:sp>
      <p:sp>
        <p:nvSpPr>
          <p:cNvPr id="81" name="CustomShape 7"/>
          <p:cNvSpPr/>
          <p:nvPr/>
        </p:nvSpPr>
        <p:spPr>
          <a:xfrm>
            <a:off x="4146840" y="4580640"/>
            <a:ext cx="8044920" cy="162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endParaRPr lang="en-US" sz="2400" b="1" strike="noStrike" spc="-1" dirty="0">
              <a:solidFill>
                <a:srgbClr val="303B3F"/>
              </a:solidFill>
              <a:latin typeface="Nunito"/>
            </a:endParaRPr>
          </a:p>
          <a:p>
            <a:pPr marL="170815" indent="-170815" algn="just">
              <a:lnSpc>
                <a:spcPct val="90000"/>
              </a:lnSpc>
              <a:spcBef>
                <a:spcPts val="901"/>
              </a:spcBef>
              <a:buClr>
                <a:srgbClr val="303B3F"/>
              </a:buClr>
              <a:buFont typeface="Noto Sans Symbols"/>
              <a:buChar char="▪"/>
              <a:tabLst>
                <a:tab pos="0" algn="l"/>
              </a:tabLst>
            </a:pPr>
            <a:endParaRPr lang="en-US" sz="1300" b="0" strike="noStrike" spc="-1" dirty="0">
              <a:solidFill>
                <a:srgbClr val="303B3F"/>
              </a:solidFill>
              <a:latin typeface="Nunito"/>
            </a:endParaRPr>
          </a:p>
        </p:txBody>
      </p:sp>
      <p:sp>
        <p:nvSpPr>
          <p:cNvPr id="82" name="CustomShape 8"/>
          <p:cNvSpPr/>
          <p:nvPr/>
        </p:nvSpPr>
        <p:spPr>
          <a:xfrm>
            <a:off x="361440" y="1467360"/>
            <a:ext cx="3784680" cy="47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700" b="1" strike="noStrike" spc="-1" dirty="0">
              <a:solidFill>
                <a:srgbClr val="FFFFFF"/>
              </a:solidFill>
              <a:latin typeface="Nunito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490027F-5C0B-435D-895B-75EE43F9CA70}"/>
              </a:ext>
            </a:extLst>
          </p:cNvPr>
          <p:cNvSpPr txBox="1"/>
          <p:nvPr/>
        </p:nvSpPr>
        <p:spPr>
          <a:xfrm>
            <a:off x="4309706" y="1712686"/>
            <a:ext cx="75225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PT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BE1E41-E634-48B1-9843-AF3DB0BD5E79}"/>
              </a:ext>
            </a:extLst>
          </p:cNvPr>
          <p:cNvSpPr txBox="1"/>
          <p:nvPr/>
        </p:nvSpPr>
        <p:spPr>
          <a:xfrm>
            <a:off x="4762595" y="1676400"/>
            <a:ext cx="715259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Blockchain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industry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is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not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very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mature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when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it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comes to </a:t>
            </a:r>
            <a:r>
              <a:rPr lang="pt-PT" sz="2000" b="1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vulnerabilities</a:t>
            </a:r>
            <a:r>
              <a:rPr lang="pt-PT" sz="2000" b="1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and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</a:t>
            </a:r>
            <a:r>
              <a:rPr lang="pt-PT" sz="2000" b="1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weaknesses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.</a:t>
            </a:r>
            <a:endParaRPr lang="pt-PT" sz="2000" dirty="0">
              <a:solidFill>
                <a:srgbClr val="1694B2"/>
              </a:solidFill>
              <a:latin typeface="Nunito"/>
            </a:endParaRPr>
          </a:p>
        </p:txBody>
      </p:sp>
      <p:pic>
        <p:nvPicPr>
          <p:cNvPr id="9" name="Imagem 9">
            <a:extLst>
              <a:ext uri="{FF2B5EF4-FFF2-40B4-BE49-F238E27FC236}">
                <a16:creationId xmlns:a16="http://schemas.microsoft.com/office/drawing/2014/main" id="{CC1B76B4-B032-4E37-8A68-827BC68941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4678" y="2109106"/>
            <a:ext cx="843643" cy="816429"/>
          </a:xfrm>
          <a:prstGeom prst="rect">
            <a:avLst/>
          </a:prstGeom>
        </p:spPr>
      </p:pic>
      <p:pic>
        <p:nvPicPr>
          <p:cNvPr id="10" name="Imagem 10">
            <a:extLst>
              <a:ext uri="{FF2B5EF4-FFF2-40B4-BE49-F238E27FC236}">
                <a16:creationId xmlns:a16="http://schemas.microsoft.com/office/drawing/2014/main" id="{E179799E-FDAE-443D-83A5-25D49BBB67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3571" y="2081892"/>
            <a:ext cx="870857" cy="884464"/>
          </a:xfrm>
          <a:prstGeom prst="rect">
            <a:avLst/>
          </a:prstGeom>
        </p:spPr>
      </p:pic>
      <p:pic>
        <p:nvPicPr>
          <p:cNvPr id="3" name="Imagem 3" descr="Uma imagem com preto, metal, cabo&#10;&#10;Descrição gerada automaticamente">
            <a:extLst>
              <a:ext uri="{FF2B5EF4-FFF2-40B4-BE49-F238E27FC236}">
                <a16:creationId xmlns:a16="http://schemas.microsoft.com/office/drawing/2014/main" id="{B8C095A7-D9E3-4200-86B0-614DA8D136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747" y="2576804"/>
            <a:ext cx="3779934" cy="2518228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6BB74E6B-6B65-4AFF-8313-80C416A3BEE4}"/>
              </a:ext>
            </a:extLst>
          </p:cNvPr>
          <p:cNvSpPr txBox="1"/>
          <p:nvPr/>
        </p:nvSpPr>
        <p:spPr>
          <a:xfrm>
            <a:off x="9085385" y="2649415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PT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6"/>
          <p:cNvSpPr/>
          <p:nvPr/>
        </p:nvSpPr>
        <p:spPr>
          <a:xfrm>
            <a:off x="361440" y="1467360"/>
            <a:ext cx="3784680" cy="4741920"/>
          </a:xfrm>
          <a:prstGeom prst="rect">
            <a:avLst/>
          </a:prstGeom>
          <a:solidFill>
            <a:srgbClr val="303B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5" name="Imagem 5">
            <a:extLst>
              <a:ext uri="{FF2B5EF4-FFF2-40B4-BE49-F238E27FC236}">
                <a16:creationId xmlns:a16="http://schemas.microsoft.com/office/drawing/2014/main" id="{C2AA3627-5E32-4C29-9AD7-81408A70A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760" y="1992006"/>
            <a:ext cx="1065704" cy="1060222"/>
          </a:xfrm>
          <a:prstGeom prst="rect">
            <a:avLst/>
          </a:prstGeom>
        </p:spPr>
      </p:pic>
      <p:sp>
        <p:nvSpPr>
          <p:cNvPr id="79" name="CustomShape 5"/>
          <p:cNvSpPr/>
          <p:nvPr/>
        </p:nvSpPr>
        <p:spPr>
          <a:xfrm>
            <a:off x="0" y="1467360"/>
            <a:ext cx="12191760" cy="3083040"/>
          </a:xfrm>
          <a:prstGeom prst="rect">
            <a:avLst/>
          </a:prstGeom>
          <a:solidFill>
            <a:srgbClr val="8498A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5" name="CustomShape 1"/>
          <p:cNvSpPr/>
          <p:nvPr/>
        </p:nvSpPr>
        <p:spPr>
          <a:xfrm>
            <a:off x="0" y="241200"/>
            <a:ext cx="12191760" cy="68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-US" sz="4400" b="1" spc="-1" dirty="0">
                <a:solidFill>
                  <a:srgbClr val="303B3F"/>
                </a:solidFill>
                <a:latin typeface="nunito"/>
                <a:ea typeface="+mn-lt"/>
                <a:cs typeface="+mn-lt"/>
              </a:rPr>
              <a:t>Blockchain – </a:t>
            </a:r>
            <a:r>
              <a:rPr lang="en-US" sz="4400" b="1" spc="-1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Vulnerabilities</a:t>
            </a:r>
            <a:endParaRPr lang="pt-PT" sz="4400" b="1">
              <a:solidFill>
                <a:srgbClr val="000000"/>
              </a:solidFill>
              <a:latin typeface="nunito"/>
              <a:cs typeface="Arial"/>
            </a:endParaRPr>
          </a:p>
        </p:txBody>
      </p:sp>
      <p:sp>
        <p:nvSpPr>
          <p:cNvPr id="77" name="CustomShape 3"/>
          <p:cNvSpPr/>
          <p:nvPr/>
        </p:nvSpPr>
        <p:spPr>
          <a:xfrm>
            <a:off x="52200" y="6392520"/>
            <a:ext cx="1301040" cy="39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303B3F"/>
                </a:solidFill>
                <a:latin typeface="Nunito"/>
                <a:ea typeface="Nunito"/>
              </a:rPr>
              <a:t>ESRG</a:t>
            </a:r>
            <a:r>
              <a:rPr lang="en-US" sz="1600" b="1" strike="noStrike" spc="-1">
                <a:solidFill>
                  <a:srgbClr val="8498A0"/>
                </a:solidFill>
                <a:latin typeface="Nunito"/>
                <a:ea typeface="Nunito"/>
              </a:rPr>
              <a:t>v3</a:t>
            </a:r>
            <a:endParaRPr lang="pt-PT" sz="1600" b="0" strike="noStrike" spc="-1">
              <a:latin typeface="Arial"/>
            </a:endParaRPr>
          </a:p>
        </p:txBody>
      </p:sp>
      <p:sp>
        <p:nvSpPr>
          <p:cNvPr id="81" name="CustomShape 7"/>
          <p:cNvSpPr/>
          <p:nvPr/>
        </p:nvSpPr>
        <p:spPr>
          <a:xfrm>
            <a:off x="4146840" y="4580640"/>
            <a:ext cx="8044920" cy="162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endParaRPr lang="en-US" sz="2400" b="1" strike="noStrike" spc="-1" dirty="0">
              <a:solidFill>
                <a:srgbClr val="303B3F"/>
              </a:solidFill>
              <a:latin typeface="Nunito"/>
            </a:endParaRPr>
          </a:p>
          <a:p>
            <a:pPr marL="170815" indent="-170815" algn="just">
              <a:lnSpc>
                <a:spcPct val="90000"/>
              </a:lnSpc>
              <a:spcBef>
                <a:spcPts val="901"/>
              </a:spcBef>
              <a:buClr>
                <a:srgbClr val="303B3F"/>
              </a:buClr>
              <a:buFont typeface="Noto Sans Symbols"/>
              <a:buChar char="▪"/>
              <a:tabLst>
                <a:tab pos="0" algn="l"/>
              </a:tabLst>
            </a:pPr>
            <a:endParaRPr lang="en-US" sz="1300" b="0" strike="noStrike" spc="-1" dirty="0">
              <a:solidFill>
                <a:srgbClr val="303B3F"/>
              </a:solidFill>
              <a:latin typeface="Nunito"/>
            </a:endParaRPr>
          </a:p>
        </p:txBody>
      </p:sp>
      <p:sp>
        <p:nvSpPr>
          <p:cNvPr id="82" name="CustomShape 8"/>
          <p:cNvSpPr/>
          <p:nvPr/>
        </p:nvSpPr>
        <p:spPr>
          <a:xfrm>
            <a:off x="361440" y="1467360"/>
            <a:ext cx="3784680" cy="47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700" b="1" strike="noStrike" spc="-1" dirty="0">
              <a:solidFill>
                <a:srgbClr val="FFFFFF"/>
              </a:solidFill>
              <a:latin typeface="Nunito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490027F-5C0B-435D-895B-75EE43F9CA70}"/>
              </a:ext>
            </a:extLst>
          </p:cNvPr>
          <p:cNvSpPr txBox="1"/>
          <p:nvPr/>
        </p:nvSpPr>
        <p:spPr>
          <a:xfrm>
            <a:off x="4309706" y="1712686"/>
            <a:ext cx="75225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PT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BE1E41-E634-48B1-9843-AF3DB0BD5E79}"/>
              </a:ext>
            </a:extLst>
          </p:cNvPr>
          <p:cNvSpPr txBox="1"/>
          <p:nvPr/>
        </p:nvSpPr>
        <p:spPr>
          <a:xfrm>
            <a:off x="4762595" y="1676400"/>
            <a:ext cx="715259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Blockchain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industry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is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not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very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mature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when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it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comes to </a:t>
            </a:r>
            <a:r>
              <a:rPr lang="pt-PT" sz="2000" b="1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vulnerabilities</a:t>
            </a:r>
            <a:r>
              <a:rPr lang="pt-PT" sz="2000" b="1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and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</a:t>
            </a:r>
            <a:r>
              <a:rPr lang="pt-PT" sz="2000" b="1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weaknesses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.</a:t>
            </a:r>
            <a:endParaRPr lang="pt-PT" sz="2000" dirty="0">
              <a:solidFill>
                <a:srgbClr val="1694B2"/>
              </a:solidFill>
              <a:latin typeface="Nunito"/>
            </a:endParaRPr>
          </a:p>
        </p:txBody>
      </p:sp>
      <p:sp>
        <p:nvSpPr>
          <p:cNvPr id="6" name="CustomShape 4">
            <a:extLst>
              <a:ext uri="{FF2B5EF4-FFF2-40B4-BE49-F238E27FC236}">
                <a16:creationId xmlns:a16="http://schemas.microsoft.com/office/drawing/2014/main" id="{F649BF1D-348A-4023-BCFD-9BEF139BB730}"/>
              </a:ext>
            </a:extLst>
          </p:cNvPr>
          <p:cNvSpPr/>
          <p:nvPr/>
        </p:nvSpPr>
        <p:spPr>
          <a:xfrm rot="5400000">
            <a:off x="7935725" y="3096752"/>
            <a:ext cx="457724" cy="229700"/>
          </a:xfrm>
          <a:prstGeom prst="triangle">
            <a:avLst>
              <a:gd name="adj" fmla="val 49348"/>
            </a:avLst>
          </a:prstGeom>
          <a:solidFill>
            <a:srgbClr val="8498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8">
            <a:extLst>
              <a:ext uri="{FF2B5EF4-FFF2-40B4-BE49-F238E27FC236}">
                <a16:creationId xmlns:a16="http://schemas.microsoft.com/office/drawing/2014/main" id="{63B04359-6C37-4BD7-9FCB-7D7566710DB1}"/>
              </a:ext>
            </a:extLst>
          </p:cNvPr>
          <p:cNvSpPr/>
          <p:nvPr/>
        </p:nvSpPr>
        <p:spPr>
          <a:xfrm>
            <a:off x="7656325" y="3142399"/>
            <a:ext cx="397755" cy="154699"/>
          </a:xfrm>
          <a:prstGeom prst="roundRect">
            <a:avLst>
              <a:gd name="adj" fmla="val 0"/>
            </a:avLst>
          </a:prstGeom>
          <a:solidFill>
            <a:srgbClr val="8498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5340B26-8D38-459F-8164-76B298A6C432}"/>
              </a:ext>
            </a:extLst>
          </p:cNvPr>
          <p:cNvSpPr txBox="1"/>
          <p:nvPr/>
        </p:nvSpPr>
        <p:spPr>
          <a:xfrm>
            <a:off x="4503755" y="2636436"/>
            <a:ext cx="27431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>
                <a:latin typeface="Nunito"/>
              </a:rPr>
              <a:t>Weaknesses are introduced into software (web </a:t>
            </a:r>
            <a:r>
              <a:rPr lang="pt-PT" dirty="0" err="1">
                <a:latin typeface="Nunito"/>
              </a:rPr>
              <a:t>services</a:t>
            </a:r>
            <a:r>
              <a:rPr lang="pt-PT" dirty="0">
                <a:latin typeface="Nunito"/>
              </a:rPr>
              <a:t>, </a:t>
            </a:r>
            <a:r>
              <a:rPr lang="pt-PT" dirty="0" err="1">
                <a:latin typeface="Nunito"/>
              </a:rPr>
              <a:t>smart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contracts,DApps</a:t>
            </a:r>
            <a:r>
              <a:rPr lang="pt-PT" dirty="0">
                <a:latin typeface="Nunito"/>
              </a:rPr>
              <a:t>,...)</a:t>
            </a:r>
          </a:p>
        </p:txBody>
      </p:sp>
      <p:pic>
        <p:nvPicPr>
          <p:cNvPr id="12" name="Imagem 7">
            <a:extLst>
              <a:ext uri="{FF2B5EF4-FFF2-40B4-BE49-F238E27FC236}">
                <a16:creationId xmlns:a16="http://schemas.microsoft.com/office/drawing/2014/main" id="{4C4D6AA1-50F9-430C-BF9B-56C04CF26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862" y="2166051"/>
            <a:ext cx="1279503" cy="720748"/>
          </a:xfrm>
          <a:prstGeom prst="rect">
            <a:avLst/>
          </a:prstGeom>
        </p:spPr>
      </p:pic>
      <p:pic>
        <p:nvPicPr>
          <p:cNvPr id="13" name="Imagem 9">
            <a:extLst>
              <a:ext uri="{FF2B5EF4-FFF2-40B4-BE49-F238E27FC236}">
                <a16:creationId xmlns:a16="http://schemas.microsoft.com/office/drawing/2014/main" id="{35833B12-76BE-4012-997B-6962081955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4678" y="2109106"/>
            <a:ext cx="843643" cy="816429"/>
          </a:xfrm>
          <a:prstGeom prst="rect">
            <a:avLst/>
          </a:prstGeom>
        </p:spPr>
      </p:pic>
      <p:pic>
        <p:nvPicPr>
          <p:cNvPr id="14" name="Imagem 10">
            <a:extLst>
              <a:ext uri="{FF2B5EF4-FFF2-40B4-BE49-F238E27FC236}">
                <a16:creationId xmlns:a16="http://schemas.microsoft.com/office/drawing/2014/main" id="{DFA993CC-6545-4BD2-B228-72DF9D21C4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3571" y="2081892"/>
            <a:ext cx="870857" cy="884464"/>
          </a:xfrm>
          <a:prstGeom prst="rect">
            <a:avLst/>
          </a:prstGeom>
        </p:spPr>
      </p:pic>
      <p:pic>
        <p:nvPicPr>
          <p:cNvPr id="3" name="Imagem 3" descr="Uma imagem com preto, metal, cabo&#10;&#10;Descrição gerada automaticamente">
            <a:extLst>
              <a:ext uri="{FF2B5EF4-FFF2-40B4-BE49-F238E27FC236}">
                <a16:creationId xmlns:a16="http://schemas.microsoft.com/office/drawing/2014/main" id="{B8C095A7-D9E3-4200-86B0-614DA8D136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747" y="2576804"/>
            <a:ext cx="3779934" cy="251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542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6"/>
          <p:cNvSpPr/>
          <p:nvPr/>
        </p:nvSpPr>
        <p:spPr>
          <a:xfrm>
            <a:off x="361440" y="1467360"/>
            <a:ext cx="3784680" cy="4741920"/>
          </a:xfrm>
          <a:prstGeom prst="rect">
            <a:avLst/>
          </a:prstGeom>
          <a:solidFill>
            <a:srgbClr val="303B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5" name="Imagem 5">
            <a:extLst>
              <a:ext uri="{FF2B5EF4-FFF2-40B4-BE49-F238E27FC236}">
                <a16:creationId xmlns:a16="http://schemas.microsoft.com/office/drawing/2014/main" id="{C2AA3627-5E32-4C29-9AD7-81408A70A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760" y="1992006"/>
            <a:ext cx="1065704" cy="1060222"/>
          </a:xfrm>
          <a:prstGeom prst="rect">
            <a:avLst/>
          </a:prstGeom>
        </p:spPr>
      </p:pic>
      <p:sp>
        <p:nvSpPr>
          <p:cNvPr id="79" name="CustomShape 5"/>
          <p:cNvSpPr/>
          <p:nvPr/>
        </p:nvSpPr>
        <p:spPr>
          <a:xfrm>
            <a:off x="0" y="1467360"/>
            <a:ext cx="12191760" cy="3083040"/>
          </a:xfrm>
          <a:prstGeom prst="rect">
            <a:avLst/>
          </a:prstGeom>
          <a:solidFill>
            <a:srgbClr val="8498A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5" name="CustomShape 1"/>
          <p:cNvSpPr/>
          <p:nvPr/>
        </p:nvSpPr>
        <p:spPr>
          <a:xfrm>
            <a:off x="0" y="241200"/>
            <a:ext cx="12191760" cy="68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b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en-US" sz="4400" b="1" spc="-1" dirty="0">
                <a:solidFill>
                  <a:srgbClr val="303B3F"/>
                </a:solidFill>
                <a:latin typeface="Nunito"/>
                <a:ea typeface="+mn-lt"/>
                <a:cs typeface="+mn-lt"/>
              </a:rPr>
              <a:t>Blockchain – </a:t>
            </a:r>
            <a:r>
              <a:rPr lang="en-US" sz="4400" b="1" spc="-1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Vulnerabilities</a:t>
            </a:r>
            <a:endParaRPr lang="en-US" sz="3900" spc="-1">
              <a:latin typeface="Nunito"/>
              <a:ea typeface="+mn-lt"/>
              <a:cs typeface="+mn-lt"/>
            </a:endParaRPr>
          </a:p>
        </p:txBody>
      </p:sp>
      <p:sp>
        <p:nvSpPr>
          <p:cNvPr id="76" name="CustomShape 2"/>
          <p:cNvSpPr/>
          <p:nvPr/>
        </p:nvSpPr>
        <p:spPr>
          <a:xfrm>
            <a:off x="23446" y="5124397"/>
            <a:ext cx="12168314" cy="163737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endParaRPr lang="pt-PT" b="0" strike="noStrike" dirty="0">
              <a:latin typeface="Arial"/>
            </a:endParaRPr>
          </a:p>
        </p:txBody>
      </p:sp>
      <p:sp>
        <p:nvSpPr>
          <p:cNvPr id="77" name="CustomShape 3"/>
          <p:cNvSpPr/>
          <p:nvPr/>
        </p:nvSpPr>
        <p:spPr>
          <a:xfrm>
            <a:off x="52200" y="6392520"/>
            <a:ext cx="1301040" cy="39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303B3F"/>
                </a:solidFill>
                <a:latin typeface="Nunito"/>
                <a:ea typeface="Nunito"/>
              </a:rPr>
              <a:t>ESRG</a:t>
            </a:r>
            <a:r>
              <a:rPr lang="en-US" sz="1600" b="1" strike="noStrike" spc="-1">
                <a:solidFill>
                  <a:srgbClr val="8498A0"/>
                </a:solidFill>
                <a:latin typeface="Nunito"/>
                <a:ea typeface="Nunito"/>
              </a:rPr>
              <a:t>v3</a:t>
            </a:r>
            <a:endParaRPr lang="pt-PT" sz="1600" b="0" strike="noStrike" spc="-1">
              <a:latin typeface="Arial"/>
            </a:endParaRPr>
          </a:p>
        </p:txBody>
      </p:sp>
      <p:sp>
        <p:nvSpPr>
          <p:cNvPr id="81" name="CustomShape 7"/>
          <p:cNvSpPr/>
          <p:nvPr/>
        </p:nvSpPr>
        <p:spPr>
          <a:xfrm>
            <a:off x="4146840" y="4580640"/>
            <a:ext cx="8044920" cy="162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endParaRPr lang="en-US" sz="2400" b="1" strike="noStrike" spc="-1" dirty="0">
              <a:solidFill>
                <a:srgbClr val="303B3F"/>
              </a:solidFill>
              <a:latin typeface="Nunito"/>
            </a:endParaRPr>
          </a:p>
          <a:p>
            <a:pPr marL="170815" indent="-170815" algn="just">
              <a:lnSpc>
                <a:spcPct val="90000"/>
              </a:lnSpc>
              <a:spcBef>
                <a:spcPts val="901"/>
              </a:spcBef>
              <a:buClr>
                <a:srgbClr val="303B3F"/>
              </a:buClr>
              <a:buFont typeface="Noto Sans Symbols"/>
              <a:buChar char="▪"/>
              <a:tabLst>
                <a:tab pos="0" algn="l"/>
              </a:tabLst>
            </a:pPr>
            <a:endParaRPr lang="en-US" sz="1300" b="0" strike="noStrike" spc="-1" dirty="0">
              <a:solidFill>
                <a:srgbClr val="303B3F"/>
              </a:solidFill>
              <a:latin typeface="Nunito"/>
            </a:endParaRPr>
          </a:p>
        </p:txBody>
      </p:sp>
      <p:sp>
        <p:nvSpPr>
          <p:cNvPr id="82" name="CustomShape 8"/>
          <p:cNvSpPr/>
          <p:nvPr/>
        </p:nvSpPr>
        <p:spPr>
          <a:xfrm>
            <a:off x="361440" y="1467360"/>
            <a:ext cx="3784680" cy="47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700" b="1" strike="noStrike" spc="-1" dirty="0">
              <a:solidFill>
                <a:srgbClr val="FFFFFF"/>
              </a:solidFill>
              <a:latin typeface="Nunito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490027F-5C0B-435D-895B-75EE43F9CA70}"/>
              </a:ext>
            </a:extLst>
          </p:cNvPr>
          <p:cNvSpPr txBox="1"/>
          <p:nvPr/>
        </p:nvSpPr>
        <p:spPr>
          <a:xfrm>
            <a:off x="4309706" y="1712686"/>
            <a:ext cx="75225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PT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BE1E41-E634-48B1-9843-AF3DB0BD5E79}"/>
              </a:ext>
            </a:extLst>
          </p:cNvPr>
          <p:cNvSpPr txBox="1"/>
          <p:nvPr/>
        </p:nvSpPr>
        <p:spPr>
          <a:xfrm>
            <a:off x="4762595" y="1676400"/>
            <a:ext cx="715259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Blockchain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industry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is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not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very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mature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when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it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comes to </a:t>
            </a:r>
            <a:r>
              <a:rPr lang="pt-PT" sz="2000" b="1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vulnerabilities</a:t>
            </a:r>
            <a:r>
              <a:rPr lang="pt-PT" sz="2000" b="1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and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</a:t>
            </a:r>
            <a:r>
              <a:rPr lang="pt-PT" sz="2000" b="1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weaknesses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.</a:t>
            </a:r>
            <a:endParaRPr lang="pt-PT" sz="2000">
              <a:solidFill>
                <a:srgbClr val="1694B2"/>
              </a:solidFill>
              <a:latin typeface="Nunito"/>
            </a:endParaRPr>
          </a:p>
        </p:txBody>
      </p:sp>
      <p:sp>
        <p:nvSpPr>
          <p:cNvPr id="6" name="CustomShape 4">
            <a:extLst>
              <a:ext uri="{FF2B5EF4-FFF2-40B4-BE49-F238E27FC236}">
                <a16:creationId xmlns:a16="http://schemas.microsoft.com/office/drawing/2014/main" id="{F649BF1D-348A-4023-BCFD-9BEF139BB730}"/>
              </a:ext>
            </a:extLst>
          </p:cNvPr>
          <p:cNvSpPr/>
          <p:nvPr/>
        </p:nvSpPr>
        <p:spPr>
          <a:xfrm rot="5400000">
            <a:off x="7935725" y="3096752"/>
            <a:ext cx="457724" cy="229700"/>
          </a:xfrm>
          <a:prstGeom prst="triangle">
            <a:avLst>
              <a:gd name="adj" fmla="val 49348"/>
            </a:avLst>
          </a:prstGeom>
          <a:solidFill>
            <a:srgbClr val="8498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8">
            <a:extLst>
              <a:ext uri="{FF2B5EF4-FFF2-40B4-BE49-F238E27FC236}">
                <a16:creationId xmlns:a16="http://schemas.microsoft.com/office/drawing/2014/main" id="{63B04359-6C37-4BD7-9FCB-7D7566710DB1}"/>
              </a:ext>
            </a:extLst>
          </p:cNvPr>
          <p:cNvSpPr/>
          <p:nvPr/>
        </p:nvSpPr>
        <p:spPr>
          <a:xfrm>
            <a:off x="7656325" y="3142399"/>
            <a:ext cx="397755" cy="154699"/>
          </a:xfrm>
          <a:prstGeom prst="roundRect">
            <a:avLst>
              <a:gd name="adj" fmla="val 0"/>
            </a:avLst>
          </a:prstGeom>
          <a:solidFill>
            <a:srgbClr val="8498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5340B26-8D38-459F-8164-76B298A6C432}"/>
              </a:ext>
            </a:extLst>
          </p:cNvPr>
          <p:cNvSpPr txBox="1"/>
          <p:nvPr/>
        </p:nvSpPr>
        <p:spPr>
          <a:xfrm>
            <a:off x="4503755" y="2636436"/>
            <a:ext cx="27431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>
                <a:latin typeface="Nunito"/>
              </a:rPr>
              <a:t>Weaknesses are introduced into software (web </a:t>
            </a:r>
            <a:r>
              <a:rPr lang="pt-PT" dirty="0" err="1">
                <a:latin typeface="Nunito"/>
              </a:rPr>
              <a:t>services</a:t>
            </a:r>
            <a:r>
              <a:rPr lang="pt-PT" dirty="0">
                <a:latin typeface="Nunito"/>
              </a:rPr>
              <a:t>, </a:t>
            </a:r>
            <a:r>
              <a:rPr lang="pt-PT" dirty="0" err="1">
                <a:latin typeface="Nunito"/>
              </a:rPr>
              <a:t>smart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contracts,DApps</a:t>
            </a:r>
            <a:r>
              <a:rPr lang="pt-PT" dirty="0">
                <a:latin typeface="Nunito"/>
              </a:rPr>
              <a:t>,...)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BB74E6B-6B65-4AFF-8313-80C416A3BEE4}"/>
              </a:ext>
            </a:extLst>
          </p:cNvPr>
          <p:cNvSpPr txBox="1"/>
          <p:nvPr/>
        </p:nvSpPr>
        <p:spPr>
          <a:xfrm>
            <a:off x="9085385" y="2649415"/>
            <a:ext cx="27432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 err="1">
                <a:latin typeface="Nunito"/>
              </a:rPr>
              <a:t>Results</a:t>
            </a:r>
            <a:r>
              <a:rPr lang="pt-PT" dirty="0">
                <a:latin typeface="Nunito"/>
              </a:rPr>
              <a:t> in </a:t>
            </a:r>
            <a:r>
              <a:rPr lang="pt-PT" dirty="0" err="1">
                <a:latin typeface="Nunito"/>
              </a:rPr>
              <a:t>vulnerabilities</a:t>
            </a:r>
            <a:r>
              <a:rPr lang="pt-PT" dirty="0">
                <a:latin typeface="Nunito"/>
              </a:rPr>
              <a:t>:</a:t>
            </a:r>
          </a:p>
          <a:p>
            <a:pPr marL="285750" indent="-285750">
              <a:buFont typeface="Arial"/>
              <a:buChar char="•"/>
            </a:pPr>
            <a:r>
              <a:rPr lang="pt-PT" dirty="0" err="1">
                <a:latin typeface="Nunito"/>
              </a:rPr>
              <a:t>Logic</a:t>
            </a:r>
            <a:r>
              <a:rPr lang="pt-PT" dirty="0">
                <a:latin typeface="Nunito"/>
              </a:rPr>
              <a:t> bugs</a:t>
            </a:r>
          </a:p>
          <a:p>
            <a:pPr marL="285750" indent="-285750">
              <a:buFont typeface="Arial"/>
              <a:buChar char="•"/>
            </a:pPr>
            <a:r>
              <a:rPr lang="pt-PT" dirty="0" err="1">
                <a:latin typeface="Nunito"/>
              </a:rPr>
              <a:t>Integer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overflows</a:t>
            </a:r>
            <a:endParaRPr lang="pt-PT">
              <a:latin typeface="Nunito"/>
            </a:endParaRPr>
          </a:p>
          <a:p>
            <a:pPr marL="285750" indent="-285750">
              <a:buFont typeface="Arial"/>
              <a:buChar char="•"/>
            </a:pPr>
            <a:r>
              <a:rPr lang="pt-PT" dirty="0" err="1">
                <a:latin typeface="Nunito"/>
                <a:ea typeface="+mn-lt"/>
                <a:cs typeface="+mn-lt"/>
              </a:rPr>
              <a:t>Reentrancy</a:t>
            </a:r>
            <a:r>
              <a:rPr lang="pt-PT" dirty="0">
                <a:latin typeface="Nunito"/>
                <a:ea typeface="+mn-lt"/>
                <a:cs typeface="+mn-lt"/>
              </a:rPr>
              <a:t> </a:t>
            </a:r>
            <a:r>
              <a:rPr lang="pt-PT" dirty="0" err="1">
                <a:latin typeface="Nunito"/>
                <a:ea typeface="+mn-lt"/>
                <a:cs typeface="+mn-lt"/>
              </a:rPr>
              <a:t>issues</a:t>
            </a:r>
            <a:endParaRPr lang="pt-PT" dirty="0" err="1">
              <a:latin typeface="Nunito"/>
            </a:endParaRPr>
          </a:p>
        </p:txBody>
      </p:sp>
      <p:pic>
        <p:nvPicPr>
          <p:cNvPr id="16" name="Imagem 7">
            <a:extLst>
              <a:ext uri="{FF2B5EF4-FFF2-40B4-BE49-F238E27FC236}">
                <a16:creationId xmlns:a16="http://schemas.microsoft.com/office/drawing/2014/main" id="{3F8B5A43-E572-47ED-8F1A-B5E15FC93F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862" y="2166051"/>
            <a:ext cx="1279503" cy="720748"/>
          </a:xfrm>
          <a:prstGeom prst="rect">
            <a:avLst/>
          </a:prstGeom>
        </p:spPr>
      </p:pic>
      <p:pic>
        <p:nvPicPr>
          <p:cNvPr id="17" name="Imagem 9">
            <a:extLst>
              <a:ext uri="{FF2B5EF4-FFF2-40B4-BE49-F238E27FC236}">
                <a16:creationId xmlns:a16="http://schemas.microsoft.com/office/drawing/2014/main" id="{E67CC6EF-BAE6-4FC2-8D8A-7FFE43E5BC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4678" y="2109106"/>
            <a:ext cx="843643" cy="816429"/>
          </a:xfrm>
          <a:prstGeom prst="rect">
            <a:avLst/>
          </a:prstGeom>
        </p:spPr>
      </p:pic>
      <p:pic>
        <p:nvPicPr>
          <p:cNvPr id="18" name="Imagem 10">
            <a:extLst>
              <a:ext uri="{FF2B5EF4-FFF2-40B4-BE49-F238E27FC236}">
                <a16:creationId xmlns:a16="http://schemas.microsoft.com/office/drawing/2014/main" id="{EE290996-F15F-49C2-9FE7-6FE0FDE1EE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3571" y="2081892"/>
            <a:ext cx="870857" cy="884464"/>
          </a:xfrm>
          <a:prstGeom prst="rect">
            <a:avLst/>
          </a:prstGeom>
        </p:spPr>
      </p:pic>
      <p:pic>
        <p:nvPicPr>
          <p:cNvPr id="3" name="Imagem 3" descr="Uma imagem com preto, metal, cabo&#10;&#10;Descrição gerada automaticamente">
            <a:extLst>
              <a:ext uri="{FF2B5EF4-FFF2-40B4-BE49-F238E27FC236}">
                <a16:creationId xmlns:a16="http://schemas.microsoft.com/office/drawing/2014/main" id="{B8C095A7-D9E3-4200-86B0-614DA8D136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747" y="2576804"/>
            <a:ext cx="3779934" cy="251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589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6"/>
          <p:cNvSpPr/>
          <p:nvPr/>
        </p:nvSpPr>
        <p:spPr>
          <a:xfrm>
            <a:off x="361440" y="1467360"/>
            <a:ext cx="3784680" cy="4741920"/>
          </a:xfrm>
          <a:prstGeom prst="rect">
            <a:avLst/>
          </a:prstGeom>
          <a:solidFill>
            <a:srgbClr val="303B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3" name="Imagem 4" descr="Uma imagem com texto&#10;&#10;Descrição gerada automaticamente">
            <a:extLst>
              <a:ext uri="{FF2B5EF4-FFF2-40B4-BE49-F238E27FC236}">
                <a16:creationId xmlns:a16="http://schemas.microsoft.com/office/drawing/2014/main" id="{9CF7C78C-FF57-4C0F-9646-0AFB95076BA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9" b="7002"/>
          <a:stretch/>
        </p:blipFill>
        <p:spPr>
          <a:xfrm>
            <a:off x="3613862" y="6041454"/>
            <a:ext cx="4244618" cy="791219"/>
          </a:xfrm>
          <a:prstGeom prst="rect">
            <a:avLst/>
          </a:prstGeom>
        </p:spPr>
      </p:pic>
      <p:pic>
        <p:nvPicPr>
          <p:cNvPr id="5" name="Imagem 5">
            <a:extLst>
              <a:ext uri="{FF2B5EF4-FFF2-40B4-BE49-F238E27FC236}">
                <a16:creationId xmlns:a16="http://schemas.microsoft.com/office/drawing/2014/main" id="{C2AA3627-5E32-4C29-9AD7-81408A70A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760" y="1992006"/>
            <a:ext cx="1065704" cy="1060222"/>
          </a:xfrm>
          <a:prstGeom prst="rect">
            <a:avLst/>
          </a:prstGeom>
        </p:spPr>
      </p:pic>
      <p:sp>
        <p:nvSpPr>
          <p:cNvPr id="79" name="CustomShape 5"/>
          <p:cNvSpPr/>
          <p:nvPr/>
        </p:nvSpPr>
        <p:spPr>
          <a:xfrm>
            <a:off x="0" y="1467360"/>
            <a:ext cx="12191760" cy="3083040"/>
          </a:xfrm>
          <a:prstGeom prst="rect">
            <a:avLst/>
          </a:prstGeom>
          <a:solidFill>
            <a:srgbClr val="8498A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5" name="CustomShape 1"/>
          <p:cNvSpPr/>
          <p:nvPr/>
        </p:nvSpPr>
        <p:spPr>
          <a:xfrm>
            <a:off x="0" y="241200"/>
            <a:ext cx="12191760" cy="68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-US" sz="4400" b="1" spc="-1" dirty="0">
                <a:solidFill>
                  <a:srgbClr val="303B3F"/>
                </a:solidFill>
                <a:latin typeface="nunito"/>
                <a:ea typeface="+mn-lt"/>
                <a:cs typeface="+mn-lt"/>
              </a:rPr>
              <a:t>Blockchain – </a:t>
            </a:r>
            <a:r>
              <a:rPr lang="en-US" sz="4400" b="1" spc="-1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Vulnerabilities</a:t>
            </a:r>
            <a:endParaRPr lang="pt-PT" b="1" dirty="0">
              <a:solidFill>
                <a:srgbClr val="000000"/>
              </a:solidFill>
              <a:latin typeface="nunito"/>
              <a:cs typeface="Arial"/>
            </a:endParaRPr>
          </a:p>
        </p:txBody>
      </p:sp>
      <p:sp>
        <p:nvSpPr>
          <p:cNvPr id="76" name="CustomShape 2"/>
          <p:cNvSpPr/>
          <p:nvPr/>
        </p:nvSpPr>
        <p:spPr>
          <a:xfrm>
            <a:off x="23446" y="5124397"/>
            <a:ext cx="12168314" cy="163737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endParaRPr lang="pt-PT" b="0" strike="noStrike" dirty="0">
              <a:latin typeface="Arial"/>
            </a:endParaRPr>
          </a:p>
        </p:txBody>
      </p:sp>
      <p:sp>
        <p:nvSpPr>
          <p:cNvPr id="77" name="CustomShape 3"/>
          <p:cNvSpPr/>
          <p:nvPr/>
        </p:nvSpPr>
        <p:spPr>
          <a:xfrm>
            <a:off x="52200" y="6392520"/>
            <a:ext cx="1301040" cy="39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303B3F"/>
                </a:solidFill>
                <a:latin typeface="Nunito"/>
                <a:ea typeface="Nunito"/>
              </a:rPr>
              <a:t>ESRG</a:t>
            </a:r>
            <a:r>
              <a:rPr lang="en-US" sz="1600" b="1" strike="noStrike" spc="-1">
                <a:solidFill>
                  <a:srgbClr val="8498A0"/>
                </a:solidFill>
                <a:latin typeface="Nunito"/>
                <a:ea typeface="Nunito"/>
              </a:rPr>
              <a:t>v3</a:t>
            </a:r>
            <a:endParaRPr lang="pt-PT" sz="1600" b="0" strike="noStrike" spc="-1">
              <a:latin typeface="Arial"/>
            </a:endParaRPr>
          </a:p>
        </p:txBody>
      </p:sp>
      <p:sp>
        <p:nvSpPr>
          <p:cNvPr id="81" name="CustomShape 7"/>
          <p:cNvSpPr/>
          <p:nvPr/>
        </p:nvSpPr>
        <p:spPr>
          <a:xfrm>
            <a:off x="4146840" y="4580640"/>
            <a:ext cx="8044920" cy="162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endParaRPr lang="en-US" sz="2400" b="1" strike="noStrike" spc="-1" dirty="0">
              <a:solidFill>
                <a:srgbClr val="303B3F"/>
              </a:solidFill>
              <a:latin typeface="Nunito"/>
            </a:endParaRPr>
          </a:p>
          <a:p>
            <a:pPr marL="170815" indent="-170815" algn="just">
              <a:lnSpc>
                <a:spcPct val="90000"/>
              </a:lnSpc>
              <a:spcBef>
                <a:spcPts val="901"/>
              </a:spcBef>
              <a:buClr>
                <a:srgbClr val="303B3F"/>
              </a:buClr>
              <a:buFont typeface="Noto Sans Symbols"/>
              <a:buChar char="▪"/>
              <a:tabLst>
                <a:tab pos="0" algn="l"/>
              </a:tabLst>
            </a:pPr>
            <a:endParaRPr lang="en-US" sz="1300" b="0" strike="noStrike" spc="-1" dirty="0">
              <a:solidFill>
                <a:srgbClr val="303B3F"/>
              </a:solidFill>
              <a:latin typeface="Nunito"/>
            </a:endParaRPr>
          </a:p>
        </p:txBody>
      </p:sp>
      <p:sp>
        <p:nvSpPr>
          <p:cNvPr id="82" name="CustomShape 8"/>
          <p:cNvSpPr/>
          <p:nvPr/>
        </p:nvSpPr>
        <p:spPr>
          <a:xfrm>
            <a:off x="361440" y="1467360"/>
            <a:ext cx="3784680" cy="47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700" b="1" strike="noStrike" spc="-1" dirty="0">
              <a:solidFill>
                <a:srgbClr val="FFFFFF"/>
              </a:solidFill>
              <a:latin typeface="Nunito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490027F-5C0B-435D-895B-75EE43F9CA70}"/>
              </a:ext>
            </a:extLst>
          </p:cNvPr>
          <p:cNvSpPr txBox="1"/>
          <p:nvPr/>
        </p:nvSpPr>
        <p:spPr>
          <a:xfrm>
            <a:off x="4309706" y="1712686"/>
            <a:ext cx="75225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PT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BE1E41-E634-48B1-9843-AF3DB0BD5E79}"/>
              </a:ext>
            </a:extLst>
          </p:cNvPr>
          <p:cNvSpPr txBox="1"/>
          <p:nvPr/>
        </p:nvSpPr>
        <p:spPr>
          <a:xfrm>
            <a:off x="4762595" y="1676400"/>
            <a:ext cx="715259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Blockchain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industry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is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not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very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mature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when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it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comes to </a:t>
            </a:r>
            <a:r>
              <a:rPr lang="pt-PT" sz="2000" b="1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vulnerabilities</a:t>
            </a:r>
            <a:r>
              <a:rPr lang="pt-PT" sz="2000" b="1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and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</a:t>
            </a:r>
            <a:r>
              <a:rPr lang="pt-PT" sz="2000" b="1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weaknesses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.</a:t>
            </a:r>
            <a:endParaRPr lang="pt-PT" sz="2000">
              <a:solidFill>
                <a:srgbClr val="1694B2"/>
              </a:solidFill>
              <a:latin typeface="Nunito"/>
            </a:endParaRPr>
          </a:p>
        </p:txBody>
      </p:sp>
      <p:sp>
        <p:nvSpPr>
          <p:cNvPr id="6" name="CustomShape 4">
            <a:extLst>
              <a:ext uri="{FF2B5EF4-FFF2-40B4-BE49-F238E27FC236}">
                <a16:creationId xmlns:a16="http://schemas.microsoft.com/office/drawing/2014/main" id="{F649BF1D-348A-4023-BCFD-9BEF139BB730}"/>
              </a:ext>
            </a:extLst>
          </p:cNvPr>
          <p:cNvSpPr/>
          <p:nvPr/>
        </p:nvSpPr>
        <p:spPr>
          <a:xfrm rot="5400000">
            <a:off x="7935725" y="3096752"/>
            <a:ext cx="457724" cy="229700"/>
          </a:xfrm>
          <a:prstGeom prst="triangle">
            <a:avLst>
              <a:gd name="adj" fmla="val 49348"/>
            </a:avLst>
          </a:prstGeom>
          <a:solidFill>
            <a:srgbClr val="8498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8">
            <a:extLst>
              <a:ext uri="{FF2B5EF4-FFF2-40B4-BE49-F238E27FC236}">
                <a16:creationId xmlns:a16="http://schemas.microsoft.com/office/drawing/2014/main" id="{63B04359-6C37-4BD7-9FCB-7D7566710DB1}"/>
              </a:ext>
            </a:extLst>
          </p:cNvPr>
          <p:cNvSpPr/>
          <p:nvPr/>
        </p:nvSpPr>
        <p:spPr>
          <a:xfrm>
            <a:off x="7656325" y="3142399"/>
            <a:ext cx="397755" cy="154699"/>
          </a:xfrm>
          <a:prstGeom prst="roundRect">
            <a:avLst>
              <a:gd name="adj" fmla="val 0"/>
            </a:avLst>
          </a:prstGeom>
          <a:solidFill>
            <a:srgbClr val="8498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5340B26-8D38-459F-8164-76B298A6C432}"/>
              </a:ext>
            </a:extLst>
          </p:cNvPr>
          <p:cNvSpPr txBox="1"/>
          <p:nvPr/>
        </p:nvSpPr>
        <p:spPr>
          <a:xfrm>
            <a:off x="4503755" y="2636436"/>
            <a:ext cx="27431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>
                <a:latin typeface="Nunito"/>
              </a:rPr>
              <a:t>Weaknesses are introduced into software (web </a:t>
            </a:r>
            <a:r>
              <a:rPr lang="pt-PT" dirty="0" err="1">
                <a:latin typeface="Nunito"/>
              </a:rPr>
              <a:t>services</a:t>
            </a:r>
            <a:r>
              <a:rPr lang="pt-PT" dirty="0">
                <a:latin typeface="Nunito"/>
              </a:rPr>
              <a:t>, </a:t>
            </a:r>
            <a:r>
              <a:rPr lang="pt-PT" dirty="0" err="1">
                <a:latin typeface="Nunito"/>
              </a:rPr>
              <a:t>smart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contracts,DApps</a:t>
            </a:r>
            <a:r>
              <a:rPr lang="pt-PT" dirty="0">
                <a:latin typeface="Nunito"/>
              </a:rPr>
              <a:t>,...)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BB74E6B-6B65-4AFF-8313-80C416A3BEE4}"/>
              </a:ext>
            </a:extLst>
          </p:cNvPr>
          <p:cNvSpPr txBox="1"/>
          <p:nvPr/>
        </p:nvSpPr>
        <p:spPr>
          <a:xfrm>
            <a:off x="9085385" y="2649415"/>
            <a:ext cx="27432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 err="1">
                <a:latin typeface="Nunito"/>
              </a:rPr>
              <a:t>Results</a:t>
            </a:r>
            <a:r>
              <a:rPr lang="pt-PT" dirty="0">
                <a:latin typeface="Nunito"/>
              </a:rPr>
              <a:t> in </a:t>
            </a:r>
            <a:r>
              <a:rPr lang="pt-PT" dirty="0" err="1">
                <a:latin typeface="Nunito"/>
              </a:rPr>
              <a:t>vulnerabilities</a:t>
            </a:r>
            <a:r>
              <a:rPr lang="pt-PT" dirty="0">
                <a:latin typeface="Nunito"/>
              </a:rPr>
              <a:t>:</a:t>
            </a:r>
          </a:p>
          <a:p>
            <a:pPr marL="285750" indent="-285750">
              <a:buFont typeface="Arial"/>
              <a:buChar char="•"/>
            </a:pPr>
            <a:r>
              <a:rPr lang="pt-PT" dirty="0" err="1">
                <a:latin typeface="Nunito"/>
              </a:rPr>
              <a:t>Logic</a:t>
            </a:r>
            <a:r>
              <a:rPr lang="pt-PT" dirty="0">
                <a:latin typeface="Nunito"/>
              </a:rPr>
              <a:t> bugs</a:t>
            </a:r>
          </a:p>
          <a:p>
            <a:pPr marL="285750" indent="-285750">
              <a:buFont typeface="Arial"/>
              <a:buChar char="•"/>
            </a:pPr>
            <a:r>
              <a:rPr lang="pt-PT" dirty="0" err="1">
                <a:latin typeface="Nunito"/>
              </a:rPr>
              <a:t>Integer</a:t>
            </a:r>
            <a:r>
              <a:rPr lang="pt-PT" dirty="0">
                <a:latin typeface="Nunito"/>
              </a:rPr>
              <a:t> </a:t>
            </a:r>
            <a:r>
              <a:rPr lang="pt-PT" dirty="0" err="1">
                <a:latin typeface="Nunito"/>
              </a:rPr>
              <a:t>overflows</a:t>
            </a:r>
            <a:endParaRPr lang="pt-PT">
              <a:latin typeface="Nunito"/>
            </a:endParaRPr>
          </a:p>
          <a:p>
            <a:pPr marL="285750" indent="-285750">
              <a:buFont typeface="Arial"/>
              <a:buChar char="•"/>
            </a:pPr>
            <a:r>
              <a:rPr lang="pt-PT" dirty="0" err="1">
                <a:latin typeface="Nunito"/>
                <a:ea typeface="+mn-lt"/>
                <a:cs typeface="+mn-lt"/>
              </a:rPr>
              <a:t>Reentrancy</a:t>
            </a:r>
            <a:r>
              <a:rPr lang="pt-PT" dirty="0">
                <a:latin typeface="Nunito"/>
                <a:ea typeface="+mn-lt"/>
                <a:cs typeface="+mn-lt"/>
              </a:rPr>
              <a:t> </a:t>
            </a:r>
            <a:r>
              <a:rPr lang="pt-PT" dirty="0" err="1">
                <a:latin typeface="Nunito"/>
                <a:ea typeface="+mn-lt"/>
                <a:cs typeface="+mn-lt"/>
              </a:rPr>
              <a:t>issues</a:t>
            </a:r>
            <a:endParaRPr lang="pt-PT" dirty="0" err="1">
              <a:latin typeface="Nunito"/>
            </a:endParaRPr>
          </a:p>
        </p:txBody>
      </p:sp>
      <p:pic>
        <p:nvPicPr>
          <p:cNvPr id="13" name="Imagem 7">
            <a:extLst>
              <a:ext uri="{FF2B5EF4-FFF2-40B4-BE49-F238E27FC236}">
                <a16:creationId xmlns:a16="http://schemas.microsoft.com/office/drawing/2014/main" id="{C804EAA2-9737-4BDC-A22B-29E6E088D4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862" y="2166051"/>
            <a:ext cx="1279503" cy="720748"/>
          </a:xfrm>
          <a:prstGeom prst="rect">
            <a:avLst/>
          </a:prstGeom>
        </p:spPr>
      </p:pic>
      <p:pic>
        <p:nvPicPr>
          <p:cNvPr id="14" name="Imagem 9">
            <a:extLst>
              <a:ext uri="{FF2B5EF4-FFF2-40B4-BE49-F238E27FC236}">
                <a16:creationId xmlns:a16="http://schemas.microsoft.com/office/drawing/2014/main" id="{CDE39498-BF0E-457F-B189-338B9DF9D1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4678" y="2109106"/>
            <a:ext cx="843643" cy="816429"/>
          </a:xfrm>
          <a:prstGeom prst="rect">
            <a:avLst/>
          </a:prstGeom>
        </p:spPr>
      </p:pic>
      <p:pic>
        <p:nvPicPr>
          <p:cNvPr id="15" name="Imagem 10">
            <a:extLst>
              <a:ext uri="{FF2B5EF4-FFF2-40B4-BE49-F238E27FC236}">
                <a16:creationId xmlns:a16="http://schemas.microsoft.com/office/drawing/2014/main" id="{F63145B3-DEAB-459E-8EF3-17D003253D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3571" y="2081892"/>
            <a:ext cx="870857" cy="884464"/>
          </a:xfrm>
          <a:prstGeom prst="rect">
            <a:avLst/>
          </a:prstGeom>
        </p:spPr>
      </p:pic>
      <p:pic>
        <p:nvPicPr>
          <p:cNvPr id="3" name="Imagem 3" descr="Uma imagem com preto, metal, cabo&#10;&#10;Descrição gerada automaticamente">
            <a:extLst>
              <a:ext uri="{FF2B5EF4-FFF2-40B4-BE49-F238E27FC236}">
                <a16:creationId xmlns:a16="http://schemas.microsoft.com/office/drawing/2014/main" id="{B8C095A7-D9E3-4200-86B0-614DA8D136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747" y="2576804"/>
            <a:ext cx="3779934" cy="2518228"/>
          </a:xfrm>
          <a:prstGeom prst="rect">
            <a:avLst/>
          </a:prstGeom>
        </p:spPr>
      </p:pic>
      <p:pic>
        <p:nvPicPr>
          <p:cNvPr id="21" name="Imagem 7">
            <a:extLst>
              <a:ext uri="{FF2B5EF4-FFF2-40B4-BE49-F238E27FC236}">
                <a16:creationId xmlns:a16="http://schemas.microsoft.com/office/drawing/2014/main" id="{5AE9E4A7-C4C5-402B-9909-D0B7CD113D02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-105" b="6180"/>
          <a:stretch/>
        </p:blipFill>
        <p:spPr>
          <a:xfrm>
            <a:off x="3862264" y="5092251"/>
            <a:ext cx="5470124" cy="954343"/>
          </a:xfrm>
          <a:prstGeom prst="rect">
            <a:avLst/>
          </a:prstGeom>
        </p:spPr>
      </p:pic>
      <p:pic>
        <p:nvPicPr>
          <p:cNvPr id="22" name="Imagem 6" descr="Uma imagem com texto&#10;&#10;Descrição gerada automaticamente">
            <a:extLst>
              <a:ext uri="{FF2B5EF4-FFF2-40B4-BE49-F238E27FC236}">
                <a16:creationId xmlns:a16="http://schemas.microsoft.com/office/drawing/2014/main" id="{91D4821C-2537-4741-8F28-095050CD46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57370" y="5729864"/>
            <a:ext cx="4381144" cy="859503"/>
          </a:xfrm>
          <a:prstGeom prst="rect">
            <a:avLst/>
          </a:prstGeom>
        </p:spPr>
      </p:pic>
      <p:pic>
        <p:nvPicPr>
          <p:cNvPr id="24" name="Imagem 5" descr="Uma imagem com texto&#10;&#10;Descrição gerada automaticamente">
            <a:extLst>
              <a:ext uri="{FF2B5EF4-FFF2-40B4-BE49-F238E27FC236}">
                <a16:creationId xmlns:a16="http://schemas.microsoft.com/office/drawing/2014/main" id="{AC46A1DE-0873-4694-A682-040554B33E2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74116" y="4556448"/>
            <a:ext cx="5164508" cy="76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525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stomShape 1"/>
          <p:cNvSpPr/>
          <p:nvPr/>
        </p:nvSpPr>
        <p:spPr>
          <a:xfrm>
            <a:off x="0" y="241200"/>
            <a:ext cx="12191760" cy="68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-US" sz="4400" b="1" spc="-1" dirty="0">
                <a:solidFill>
                  <a:srgbClr val="1694B2"/>
                </a:solidFill>
                <a:latin typeface="Nunito"/>
              </a:rPr>
              <a:t>Trusted Execution Environment (TEE)</a:t>
            </a:r>
            <a:endParaRPr lang="en-US" sz="4400" b="1" strike="noStrike" spc="-1" dirty="0">
              <a:solidFill>
                <a:srgbClr val="1694B2"/>
              </a:solidFill>
              <a:latin typeface="Nunito"/>
            </a:endParaRPr>
          </a:p>
        </p:txBody>
      </p:sp>
      <p:sp>
        <p:nvSpPr>
          <p:cNvPr id="84" name="CustomShape 2"/>
          <p:cNvSpPr/>
          <p:nvPr/>
        </p:nvSpPr>
        <p:spPr>
          <a:xfrm>
            <a:off x="0" y="6507720"/>
            <a:ext cx="12191760" cy="21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fld id="{DCB731D1-B609-40AC-A566-B30987D09182}" type="slidenum">
              <a:rPr lang="en-US" sz="1200" b="0" strike="noStrike" spc="-1">
                <a:solidFill>
                  <a:srgbClr val="8498A0"/>
                </a:solidFill>
                <a:latin typeface="Nunito"/>
                <a:ea typeface="Nunito"/>
              </a:rPr>
              <a:t>11</a:t>
            </a:fld>
            <a:endParaRPr lang="pt-PT" sz="1200" b="0" strike="noStrike" spc="-1">
              <a:latin typeface="Arial"/>
            </a:endParaRPr>
          </a:p>
        </p:txBody>
      </p:sp>
      <p:sp>
        <p:nvSpPr>
          <p:cNvPr id="85" name="CustomShape 3"/>
          <p:cNvSpPr/>
          <p:nvPr/>
        </p:nvSpPr>
        <p:spPr>
          <a:xfrm>
            <a:off x="52200" y="6392520"/>
            <a:ext cx="1301040" cy="39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303B3F"/>
                </a:solidFill>
                <a:latin typeface="Nunito"/>
                <a:ea typeface="Nunito"/>
              </a:rPr>
              <a:t>ESRG</a:t>
            </a:r>
            <a:r>
              <a:rPr lang="en-US" sz="1600" b="1" strike="noStrike" spc="-1">
                <a:solidFill>
                  <a:srgbClr val="8498A0"/>
                </a:solidFill>
                <a:latin typeface="Nunito"/>
                <a:ea typeface="Nunito"/>
              </a:rPr>
              <a:t>v3</a:t>
            </a:r>
            <a:endParaRPr lang="pt-PT" sz="1600" b="0" strike="noStrike" spc="-1">
              <a:latin typeface="Arial"/>
            </a:endParaRPr>
          </a:p>
        </p:txBody>
      </p:sp>
      <p:sp>
        <p:nvSpPr>
          <p:cNvPr id="86" name="CustomShape 4"/>
          <p:cNvSpPr/>
          <p:nvPr/>
        </p:nvSpPr>
        <p:spPr>
          <a:xfrm>
            <a:off x="0" y="1467360"/>
            <a:ext cx="12191760" cy="3083040"/>
          </a:xfrm>
          <a:prstGeom prst="rect">
            <a:avLst/>
          </a:prstGeom>
          <a:solidFill>
            <a:srgbClr val="8498A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" name="CustomShape 5"/>
          <p:cNvSpPr/>
          <p:nvPr/>
        </p:nvSpPr>
        <p:spPr>
          <a:xfrm>
            <a:off x="361440" y="1467360"/>
            <a:ext cx="3784680" cy="4741920"/>
          </a:xfrm>
          <a:prstGeom prst="rect">
            <a:avLst/>
          </a:prstGeom>
          <a:solidFill>
            <a:srgbClr val="303B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8" name="CustomShape 6"/>
          <p:cNvSpPr/>
          <p:nvPr/>
        </p:nvSpPr>
        <p:spPr>
          <a:xfrm>
            <a:off x="4146840" y="4580640"/>
            <a:ext cx="8044920" cy="162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endParaRPr lang="en-US" sz="2400" b="1" strike="noStrike" spc="-1" dirty="0">
              <a:solidFill>
                <a:srgbClr val="303B3F"/>
              </a:solidFill>
              <a:latin typeface="Nunito"/>
            </a:endParaRPr>
          </a:p>
        </p:txBody>
      </p:sp>
      <p:sp>
        <p:nvSpPr>
          <p:cNvPr id="89" name="CustomShape 7"/>
          <p:cNvSpPr/>
          <p:nvPr/>
        </p:nvSpPr>
        <p:spPr>
          <a:xfrm>
            <a:off x="361440" y="1467360"/>
            <a:ext cx="3784680" cy="47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700" b="1" strike="noStrike" spc="-1" dirty="0">
              <a:solidFill>
                <a:srgbClr val="FFFFFF"/>
              </a:solidFill>
              <a:latin typeface="Nunito"/>
            </a:endParaRPr>
          </a:p>
        </p:txBody>
      </p:sp>
      <p:sp>
        <p:nvSpPr>
          <p:cNvPr id="90" name="CustomShape 8"/>
          <p:cNvSpPr/>
          <p:nvPr/>
        </p:nvSpPr>
        <p:spPr>
          <a:xfrm>
            <a:off x="10591920" y="6392520"/>
            <a:ext cx="159984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000" b="1" strike="noStrike" spc="-1" dirty="0">
              <a:solidFill>
                <a:srgbClr val="303B3F"/>
              </a:solidFill>
              <a:latin typeface="Nunito"/>
            </a:endParaRPr>
          </a:p>
          <a:p>
            <a:pPr>
              <a:tabLst>
                <a:tab pos="0" algn="l"/>
              </a:tabLst>
            </a:pPr>
            <a:endParaRPr lang="en-US" sz="2000" b="1" spc="-1" dirty="0">
              <a:solidFill>
                <a:srgbClr val="303B3F"/>
              </a:solidFill>
              <a:latin typeface="Nunito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156F1AB-8C24-425B-8D8B-4D82EDD1396C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6BBFFD7-7C3B-41AB-BED4-70FC5C081A42}"/>
              </a:ext>
            </a:extLst>
          </p:cNvPr>
          <p:cNvSpPr txBox="1"/>
          <p:nvPr/>
        </p:nvSpPr>
        <p:spPr>
          <a:xfrm>
            <a:off x="4145192" y="1715847"/>
            <a:ext cx="810657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PT" dirty="0">
              <a:latin typeface="Nunito"/>
            </a:endParaRPr>
          </a:p>
          <a:p>
            <a:pPr marL="285750" indent="-285750">
              <a:buFont typeface="Arial"/>
              <a:buChar char="•"/>
            </a:pPr>
            <a:r>
              <a:rPr lang="pt-PT" dirty="0" err="1">
                <a:latin typeface="Nunito"/>
                <a:ea typeface="+mn-lt"/>
                <a:cs typeface="+mn-lt"/>
              </a:rPr>
              <a:t>Isolated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environment</a:t>
            </a:r>
            <a:r>
              <a:rPr lang="pt-PT" dirty="0">
                <a:latin typeface="Nunito"/>
                <a:ea typeface="+mn-lt"/>
                <a:cs typeface="+mn-lt"/>
              </a:rPr>
              <a:t> for </a:t>
            </a:r>
            <a:r>
              <a:rPr lang="pt-PT" dirty="0" err="1">
                <a:latin typeface="Nunito"/>
                <a:ea typeface="+mn-lt"/>
                <a:cs typeface="+mn-lt"/>
              </a:rPr>
              <a:t>executing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code</a:t>
            </a:r>
            <a:r>
              <a:rPr lang="pt-PT" dirty="0">
                <a:latin typeface="Nunito"/>
                <a:ea typeface="+mn-lt"/>
                <a:cs typeface="+mn-lt"/>
              </a:rPr>
              <a:t>, in </a:t>
            </a:r>
            <a:r>
              <a:rPr lang="pt-PT" dirty="0" err="1">
                <a:latin typeface="Nunito"/>
                <a:ea typeface="+mn-lt"/>
                <a:cs typeface="+mn-lt"/>
              </a:rPr>
              <a:t>which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those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executing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the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code</a:t>
            </a:r>
            <a:r>
              <a:rPr lang="pt-PT" dirty="0">
                <a:latin typeface="Nunito"/>
                <a:ea typeface="+mn-lt"/>
                <a:cs typeface="+mn-lt"/>
              </a:rPr>
              <a:t> can </a:t>
            </a:r>
            <a:r>
              <a:rPr lang="pt-PT" dirty="0" err="1">
                <a:latin typeface="Nunito"/>
                <a:ea typeface="+mn-lt"/>
                <a:cs typeface="+mn-lt"/>
              </a:rPr>
              <a:t>have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high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levels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of</a:t>
            </a:r>
            <a:r>
              <a:rPr lang="pt-PT" dirty="0">
                <a:latin typeface="Nunito"/>
                <a:ea typeface="+mn-lt"/>
                <a:cs typeface="+mn-lt"/>
              </a:rPr>
              <a:t> trust</a:t>
            </a:r>
            <a:endParaRPr lang="pt-PT" dirty="0">
              <a:latin typeface="Nunito"/>
            </a:endParaRPr>
          </a:p>
          <a:p>
            <a:pPr marL="285750" indent="-285750">
              <a:buFont typeface="Arial"/>
              <a:buChar char="•"/>
            </a:pPr>
            <a:endParaRPr lang="pt-PT">
              <a:cs typeface="Arial"/>
            </a:endParaRPr>
          </a:p>
          <a:p>
            <a:endParaRPr lang="pt-PT" dirty="0">
              <a:cs typeface="Arial"/>
            </a:endParaRPr>
          </a:p>
          <a:p>
            <a:endParaRPr lang="pt-PT" dirty="0">
              <a:cs typeface="Arial"/>
            </a:endParaRPr>
          </a:p>
        </p:txBody>
      </p:sp>
      <p:pic>
        <p:nvPicPr>
          <p:cNvPr id="4" name="Imagem 4" descr="Uma imagem com eletrónica, circuito&#10;&#10;Descrição gerada automaticamente">
            <a:extLst>
              <a:ext uri="{FF2B5EF4-FFF2-40B4-BE49-F238E27FC236}">
                <a16:creationId xmlns:a16="http://schemas.microsoft.com/office/drawing/2014/main" id="{D66FECC5-9553-41C6-9642-3FE6C3583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67" y="2599863"/>
            <a:ext cx="3781816" cy="2368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stomShape 1"/>
          <p:cNvSpPr/>
          <p:nvPr/>
        </p:nvSpPr>
        <p:spPr>
          <a:xfrm>
            <a:off x="0" y="241200"/>
            <a:ext cx="12191760" cy="68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-US" sz="4400" b="1" spc="-1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Trusted Execution Environment (TEE)</a:t>
            </a:r>
            <a:endParaRPr lang="pt-PT" sz="4400" b="1">
              <a:latin typeface="Nunito"/>
            </a:endParaRPr>
          </a:p>
        </p:txBody>
      </p:sp>
      <p:sp>
        <p:nvSpPr>
          <p:cNvPr id="84" name="CustomShape 2"/>
          <p:cNvSpPr/>
          <p:nvPr/>
        </p:nvSpPr>
        <p:spPr>
          <a:xfrm>
            <a:off x="0" y="6507720"/>
            <a:ext cx="12191760" cy="21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fld id="{DCB731D1-B609-40AC-A566-B30987D09182}" type="slidenum">
              <a:rPr lang="en-US" sz="1200" b="0" strike="noStrike" spc="-1">
                <a:solidFill>
                  <a:srgbClr val="8498A0"/>
                </a:solidFill>
                <a:latin typeface="Nunito"/>
                <a:ea typeface="Nunito"/>
              </a:rPr>
              <a:t>12</a:t>
            </a:fld>
            <a:endParaRPr lang="pt-PT" sz="1200" b="0" strike="noStrike" spc="-1">
              <a:latin typeface="Arial"/>
            </a:endParaRPr>
          </a:p>
        </p:txBody>
      </p:sp>
      <p:sp>
        <p:nvSpPr>
          <p:cNvPr id="85" name="CustomShape 3"/>
          <p:cNvSpPr/>
          <p:nvPr/>
        </p:nvSpPr>
        <p:spPr>
          <a:xfrm>
            <a:off x="52200" y="6392520"/>
            <a:ext cx="1301040" cy="39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303B3F"/>
                </a:solidFill>
                <a:latin typeface="Nunito"/>
                <a:ea typeface="Nunito"/>
              </a:rPr>
              <a:t>ESRG</a:t>
            </a:r>
            <a:r>
              <a:rPr lang="en-US" sz="1600" b="1" strike="noStrike" spc="-1">
                <a:solidFill>
                  <a:srgbClr val="8498A0"/>
                </a:solidFill>
                <a:latin typeface="Nunito"/>
                <a:ea typeface="Nunito"/>
              </a:rPr>
              <a:t>v3</a:t>
            </a:r>
            <a:endParaRPr lang="pt-PT" sz="1600" b="0" strike="noStrike" spc="-1">
              <a:latin typeface="Arial"/>
            </a:endParaRPr>
          </a:p>
        </p:txBody>
      </p:sp>
      <p:sp>
        <p:nvSpPr>
          <p:cNvPr id="86" name="CustomShape 4"/>
          <p:cNvSpPr/>
          <p:nvPr/>
        </p:nvSpPr>
        <p:spPr>
          <a:xfrm>
            <a:off x="0" y="1467360"/>
            <a:ext cx="12191760" cy="3083040"/>
          </a:xfrm>
          <a:prstGeom prst="rect">
            <a:avLst/>
          </a:prstGeom>
          <a:solidFill>
            <a:srgbClr val="8498A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" name="CustomShape 5"/>
          <p:cNvSpPr/>
          <p:nvPr/>
        </p:nvSpPr>
        <p:spPr>
          <a:xfrm>
            <a:off x="361440" y="1467360"/>
            <a:ext cx="3784680" cy="4741920"/>
          </a:xfrm>
          <a:prstGeom prst="rect">
            <a:avLst/>
          </a:prstGeom>
          <a:solidFill>
            <a:srgbClr val="303B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8" name="CustomShape 6"/>
          <p:cNvSpPr/>
          <p:nvPr/>
        </p:nvSpPr>
        <p:spPr>
          <a:xfrm>
            <a:off x="4146840" y="4580640"/>
            <a:ext cx="8044920" cy="162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endParaRPr lang="en-US" sz="2400" b="1" strike="noStrike" spc="-1" dirty="0">
              <a:solidFill>
                <a:srgbClr val="303B3F"/>
              </a:solidFill>
              <a:latin typeface="Nunito"/>
            </a:endParaRPr>
          </a:p>
        </p:txBody>
      </p:sp>
      <p:sp>
        <p:nvSpPr>
          <p:cNvPr id="89" name="CustomShape 7"/>
          <p:cNvSpPr/>
          <p:nvPr/>
        </p:nvSpPr>
        <p:spPr>
          <a:xfrm>
            <a:off x="361440" y="1467360"/>
            <a:ext cx="3784680" cy="47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700" b="1" strike="noStrike" spc="-1" dirty="0">
              <a:solidFill>
                <a:srgbClr val="FFFFFF"/>
              </a:solidFill>
              <a:latin typeface="Nunito"/>
            </a:endParaRPr>
          </a:p>
        </p:txBody>
      </p:sp>
      <p:sp>
        <p:nvSpPr>
          <p:cNvPr id="90" name="CustomShape 8"/>
          <p:cNvSpPr/>
          <p:nvPr/>
        </p:nvSpPr>
        <p:spPr>
          <a:xfrm>
            <a:off x="10591920" y="6392520"/>
            <a:ext cx="159984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000" b="1" strike="noStrike" spc="-1" dirty="0">
              <a:solidFill>
                <a:srgbClr val="303B3F"/>
              </a:solidFill>
              <a:latin typeface="Nunito"/>
            </a:endParaRPr>
          </a:p>
          <a:p>
            <a:pPr>
              <a:tabLst>
                <a:tab pos="0" algn="l"/>
              </a:tabLst>
            </a:pPr>
            <a:endParaRPr lang="en-US" sz="2000" b="1" spc="-1" dirty="0">
              <a:solidFill>
                <a:srgbClr val="303B3F"/>
              </a:solidFill>
              <a:latin typeface="Nunito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156F1AB-8C24-425B-8D8B-4D82EDD1396C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6BBFFD7-7C3B-41AB-BED4-70FC5C081A42}"/>
              </a:ext>
            </a:extLst>
          </p:cNvPr>
          <p:cNvSpPr txBox="1"/>
          <p:nvPr/>
        </p:nvSpPr>
        <p:spPr>
          <a:xfrm>
            <a:off x="4145192" y="1715847"/>
            <a:ext cx="8106572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PT" dirty="0">
              <a:latin typeface="Nunito"/>
            </a:endParaRPr>
          </a:p>
          <a:p>
            <a:pPr marL="285750" indent="-285750">
              <a:buFont typeface="Arial"/>
              <a:buChar char="•"/>
            </a:pPr>
            <a:r>
              <a:rPr lang="pt-PT" dirty="0" err="1">
                <a:latin typeface="Nunito"/>
                <a:ea typeface="+mn-lt"/>
                <a:cs typeface="+mn-lt"/>
              </a:rPr>
              <a:t>Isolated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environment</a:t>
            </a:r>
            <a:r>
              <a:rPr lang="pt-PT" dirty="0">
                <a:latin typeface="Nunito"/>
                <a:ea typeface="+mn-lt"/>
                <a:cs typeface="+mn-lt"/>
              </a:rPr>
              <a:t> for </a:t>
            </a:r>
            <a:r>
              <a:rPr lang="pt-PT" dirty="0" err="1">
                <a:latin typeface="Nunito"/>
                <a:ea typeface="+mn-lt"/>
                <a:cs typeface="+mn-lt"/>
              </a:rPr>
              <a:t>executing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code</a:t>
            </a:r>
            <a:r>
              <a:rPr lang="pt-PT" dirty="0">
                <a:latin typeface="Nunito"/>
                <a:ea typeface="+mn-lt"/>
                <a:cs typeface="+mn-lt"/>
              </a:rPr>
              <a:t>, in </a:t>
            </a:r>
            <a:r>
              <a:rPr lang="pt-PT" dirty="0" err="1">
                <a:latin typeface="Nunito"/>
                <a:ea typeface="+mn-lt"/>
                <a:cs typeface="+mn-lt"/>
              </a:rPr>
              <a:t>which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those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executing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the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code</a:t>
            </a:r>
            <a:r>
              <a:rPr lang="pt-PT" dirty="0">
                <a:latin typeface="Nunito"/>
                <a:ea typeface="+mn-lt"/>
                <a:cs typeface="+mn-lt"/>
              </a:rPr>
              <a:t> can </a:t>
            </a:r>
            <a:r>
              <a:rPr lang="pt-PT" dirty="0" err="1">
                <a:latin typeface="Nunito"/>
                <a:ea typeface="+mn-lt"/>
                <a:cs typeface="+mn-lt"/>
              </a:rPr>
              <a:t>have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high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levels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of</a:t>
            </a:r>
            <a:r>
              <a:rPr lang="pt-PT" dirty="0">
                <a:latin typeface="Nunito"/>
                <a:ea typeface="+mn-lt"/>
                <a:cs typeface="+mn-lt"/>
              </a:rPr>
              <a:t> trust</a:t>
            </a:r>
            <a:endParaRPr lang="pt-PT">
              <a:latin typeface="Nunito"/>
            </a:endParaRPr>
          </a:p>
          <a:p>
            <a:pPr marL="285750" indent="-285750">
              <a:buFont typeface="Arial"/>
              <a:buChar char="•"/>
            </a:pPr>
            <a:endParaRPr lang="pt-PT" dirty="0">
              <a:latin typeface="Nunito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pt-PT" dirty="0" err="1">
                <a:latin typeface="Nunito"/>
                <a:cs typeface="Arial"/>
              </a:rPr>
              <a:t>Guarantees</a:t>
            </a:r>
            <a:r>
              <a:rPr lang="pt-PT" dirty="0">
                <a:latin typeface="Nunito"/>
                <a:cs typeface="Arial"/>
              </a:rPr>
              <a:t> </a:t>
            </a:r>
            <a:r>
              <a:rPr lang="pt-PT" dirty="0" err="1">
                <a:latin typeface="Nunito"/>
                <a:cs typeface="Arial"/>
              </a:rPr>
              <a:t>the</a:t>
            </a:r>
            <a:r>
              <a:rPr lang="pt-PT" dirty="0">
                <a:latin typeface="Nunito"/>
                <a:cs typeface="Arial"/>
              </a:rPr>
              <a:t> </a:t>
            </a:r>
            <a:r>
              <a:rPr lang="pt-PT" dirty="0" err="1">
                <a:latin typeface="Nunito"/>
                <a:cs typeface="Arial"/>
              </a:rPr>
              <a:t>authenticity</a:t>
            </a:r>
            <a:r>
              <a:rPr lang="pt-PT" dirty="0">
                <a:latin typeface="Nunito"/>
                <a:cs typeface="Arial"/>
              </a:rPr>
              <a:t> </a:t>
            </a:r>
            <a:r>
              <a:rPr lang="pt-PT" dirty="0" err="1">
                <a:latin typeface="Nunito"/>
                <a:cs typeface="Arial"/>
              </a:rPr>
              <a:t>and</a:t>
            </a:r>
            <a:r>
              <a:rPr lang="pt-PT" dirty="0">
                <a:latin typeface="Nunito"/>
                <a:cs typeface="Arial"/>
              </a:rPr>
              <a:t> </a:t>
            </a:r>
            <a:r>
              <a:rPr lang="pt-PT" dirty="0" err="1">
                <a:latin typeface="Nunito"/>
                <a:cs typeface="Arial"/>
              </a:rPr>
              <a:t>confidentiality</a:t>
            </a:r>
            <a:r>
              <a:rPr lang="pt-PT" dirty="0">
                <a:latin typeface="Nunito"/>
                <a:cs typeface="Arial"/>
              </a:rPr>
              <a:t> </a:t>
            </a:r>
            <a:r>
              <a:rPr lang="pt-PT" dirty="0" err="1">
                <a:latin typeface="Nunito"/>
                <a:cs typeface="Arial"/>
              </a:rPr>
              <a:t>of</a:t>
            </a:r>
            <a:r>
              <a:rPr lang="pt-PT" dirty="0">
                <a:latin typeface="Nunito"/>
                <a:cs typeface="Arial"/>
              </a:rPr>
              <a:t> </a:t>
            </a:r>
            <a:r>
              <a:rPr lang="pt-PT" dirty="0" err="1">
                <a:latin typeface="Nunito"/>
                <a:cs typeface="Arial"/>
              </a:rPr>
              <a:t>the</a:t>
            </a:r>
            <a:r>
              <a:rPr lang="pt-PT" dirty="0">
                <a:latin typeface="Nunito"/>
                <a:cs typeface="Arial"/>
              </a:rPr>
              <a:t> </a:t>
            </a:r>
            <a:r>
              <a:rPr lang="pt-PT" dirty="0" err="1">
                <a:latin typeface="Nunito"/>
                <a:cs typeface="Arial"/>
              </a:rPr>
              <a:t>code</a:t>
            </a:r>
            <a:endParaRPr lang="pt-PT" dirty="0">
              <a:latin typeface="Nunito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pt-PT" dirty="0">
              <a:cs typeface="Arial"/>
            </a:endParaRPr>
          </a:p>
          <a:p>
            <a:endParaRPr lang="pt-PT" dirty="0">
              <a:cs typeface="Arial"/>
            </a:endParaRPr>
          </a:p>
          <a:p>
            <a:endParaRPr lang="pt-PT" dirty="0">
              <a:cs typeface="Arial"/>
            </a:endParaRPr>
          </a:p>
        </p:txBody>
      </p:sp>
      <p:pic>
        <p:nvPicPr>
          <p:cNvPr id="4" name="Imagem 4" descr="Uma imagem com eletrónica, circuito&#10;&#10;Descrição gerada automaticamente">
            <a:extLst>
              <a:ext uri="{FF2B5EF4-FFF2-40B4-BE49-F238E27FC236}">
                <a16:creationId xmlns:a16="http://schemas.microsoft.com/office/drawing/2014/main" id="{D66FECC5-9553-41C6-9642-3FE6C3583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67" y="2599863"/>
            <a:ext cx="3781816" cy="236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457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stomShape 1"/>
          <p:cNvSpPr/>
          <p:nvPr/>
        </p:nvSpPr>
        <p:spPr>
          <a:xfrm>
            <a:off x="0" y="241200"/>
            <a:ext cx="12191760" cy="68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-US" sz="4400" b="1" spc="-1" dirty="0">
                <a:solidFill>
                  <a:srgbClr val="1694B2"/>
                </a:solidFill>
                <a:latin typeface="Nunito"/>
                <a:cs typeface="Arial"/>
              </a:rPr>
              <a:t>Trusted</a:t>
            </a:r>
            <a:r>
              <a:rPr lang="en-US" sz="4400" b="1" spc="-1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Execution Environment (TEE)</a:t>
            </a:r>
            <a:endParaRPr lang="en-US" sz="4400" b="1" strike="noStrike" spc="-1" dirty="0">
              <a:solidFill>
                <a:srgbClr val="1694B2"/>
              </a:solidFill>
              <a:latin typeface="Nunito"/>
            </a:endParaRPr>
          </a:p>
        </p:txBody>
      </p:sp>
      <p:sp>
        <p:nvSpPr>
          <p:cNvPr id="84" name="CustomShape 2"/>
          <p:cNvSpPr/>
          <p:nvPr/>
        </p:nvSpPr>
        <p:spPr>
          <a:xfrm>
            <a:off x="0" y="6507720"/>
            <a:ext cx="12191760" cy="21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fld id="{DCB731D1-B609-40AC-A566-B30987D09182}" type="slidenum">
              <a:rPr lang="en-US" sz="1200" b="0" strike="noStrike" spc="-1">
                <a:solidFill>
                  <a:srgbClr val="8498A0"/>
                </a:solidFill>
                <a:latin typeface="Nunito"/>
                <a:ea typeface="Nunito"/>
              </a:rPr>
              <a:t>13</a:t>
            </a:fld>
            <a:endParaRPr lang="pt-PT" sz="1200" b="0" strike="noStrike" spc="-1">
              <a:latin typeface="Arial"/>
            </a:endParaRPr>
          </a:p>
        </p:txBody>
      </p:sp>
      <p:sp>
        <p:nvSpPr>
          <p:cNvPr id="85" name="CustomShape 3"/>
          <p:cNvSpPr/>
          <p:nvPr/>
        </p:nvSpPr>
        <p:spPr>
          <a:xfrm>
            <a:off x="52200" y="6392520"/>
            <a:ext cx="1301040" cy="39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303B3F"/>
                </a:solidFill>
                <a:latin typeface="Nunito"/>
                <a:ea typeface="Nunito"/>
              </a:rPr>
              <a:t>ESRG</a:t>
            </a:r>
            <a:r>
              <a:rPr lang="en-US" sz="1600" b="1" strike="noStrike" spc="-1">
                <a:solidFill>
                  <a:srgbClr val="8498A0"/>
                </a:solidFill>
                <a:latin typeface="Nunito"/>
                <a:ea typeface="Nunito"/>
              </a:rPr>
              <a:t>v3</a:t>
            </a:r>
            <a:endParaRPr lang="pt-PT" sz="1600" b="0" strike="noStrike" spc="-1">
              <a:latin typeface="Arial"/>
            </a:endParaRPr>
          </a:p>
        </p:txBody>
      </p:sp>
      <p:sp>
        <p:nvSpPr>
          <p:cNvPr id="86" name="CustomShape 4"/>
          <p:cNvSpPr/>
          <p:nvPr/>
        </p:nvSpPr>
        <p:spPr>
          <a:xfrm>
            <a:off x="0" y="1467360"/>
            <a:ext cx="12191760" cy="3083040"/>
          </a:xfrm>
          <a:prstGeom prst="rect">
            <a:avLst/>
          </a:prstGeom>
          <a:solidFill>
            <a:srgbClr val="8498A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" name="CustomShape 5"/>
          <p:cNvSpPr/>
          <p:nvPr/>
        </p:nvSpPr>
        <p:spPr>
          <a:xfrm>
            <a:off x="361440" y="1467360"/>
            <a:ext cx="3784680" cy="4741920"/>
          </a:xfrm>
          <a:prstGeom prst="rect">
            <a:avLst/>
          </a:prstGeom>
          <a:solidFill>
            <a:srgbClr val="303B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8" name="CustomShape 6"/>
          <p:cNvSpPr/>
          <p:nvPr/>
        </p:nvSpPr>
        <p:spPr>
          <a:xfrm>
            <a:off x="4146840" y="4580640"/>
            <a:ext cx="8044920" cy="162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endParaRPr lang="en-US" sz="2400" b="1" strike="noStrike" spc="-1" dirty="0">
              <a:solidFill>
                <a:srgbClr val="303B3F"/>
              </a:solidFill>
              <a:latin typeface="Nunito"/>
            </a:endParaRPr>
          </a:p>
        </p:txBody>
      </p:sp>
      <p:sp>
        <p:nvSpPr>
          <p:cNvPr id="89" name="CustomShape 7"/>
          <p:cNvSpPr/>
          <p:nvPr/>
        </p:nvSpPr>
        <p:spPr>
          <a:xfrm>
            <a:off x="361440" y="1467360"/>
            <a:ext cx="3784680" cy="47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700" b="1" strike="noStrike" spc="-1" dirty="0">
              <a:solidFill>
                <a:srgbClr val="FFFFFF"/>
              </a:solidFill>
              <a:latin typeface="Nunito"/>
            </a:endParaRPr>
          </a:p>
        </p:txBody>
      </p:sp>
      <p:sp>
        <p:nvSpPr>
          <p:cNvPr id="90" name="CustomShape 8"/>
          <p:cNvSpPr/>
          <p:nvPr/>
        </p:nvSpPr>
        <p:spPr>
          <a:xfrm>
            <a:off x="10591920" y="6392520"/>
            <a:ext cx="159984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000" b="1" strike="noStrike" spc="-1" dirty="0">
              <a:solidFill>
                <a:srgbClr val="303B3F"/>
              </a:solidFill>
              <a:latin typeface="Nunito"/>
            </a:endParaRPr>
          </a:p>
          <a:p>
            <a:pPr>
              <a:tabLst>
                <a:tab pos="0" algn="l"/>
              </a:tabLst>
            </a:pPr>
            <a:endParaRPr lang="en-US" sz="2000" b="1" spc="-1" dirty="0">
              <a:solidFill>
                <a:srgbClr val="303B3F"/>
              </a:solidFill>
              <a:latin typeface="Nunito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156F1AB-8C24-425B-8D8B-4D82EDD1396C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6BBFFD7-7C3B-41AB-BED4-70FC5C081A42}"/>
              </a:ext>
            </a:extLst>
          </p:cNvPr>
          <p:cNvSpPr txBox="1"/>
          <p:nvPr/>
        </p:nvSpPr>
        <p:spPr>
          <a:xfrm>
            <a:off x="4145192" y="1715847"/>
            <a:ext cx="8106572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PT" dirty="0">
              <a:latin typeface="Nunito"/>
            </a:endParaRPr>
          </a:p>
          <a:p>
            <a:pPr marL="285750" indent="-285750">
              <a:buFont typeface="Arial"/>
              <a:buChar char="•"/>
            </a:pPr>
            <a:r>
              <a:rPr lang="pt-PT" dirty="0" err="1">
                <a:latin typeface="Nunito"/>
                <a:ea typeface="+mn-lt"/>
                <a:cs typeface="+mn-lt"/>
              </a:rPr>
              <a:t>Isolated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environment</a:t>
            </a:r>
            <a:r>
              <a:rPr lang="pt-PT" dirty="0">
                <a:latin typeface="Nunito"/>
                <a:ea typeface="+mn-lt"/>
                <a:cs typeface="+mn-lt"/>
              </a:rPr>
              <a:t> for </a:t>
            </a:r>
            <a:r>
              <a:rPr lang="pt-PT" dirty="0" err="1">
                <a:latin typeface="Nunito"/>
                <a:ea typeface="+mn-lt"/>
                <a:cs typeface="+mn-lt"/>
              </a:rPr>
              <a:t>executing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code</a:t>
            </a:r>
            <a:r>
              <a:rPr lang="pt-PT" dirty="0">
                <a:latin typeface="Nunito"/>
                <a:ea typeface="+mn-lt"/>
                <a:cs typeface="+mn-lt"/>
              </a:rPr>
              <a:t>, in </a:t>
            </a:r>
            <a:r>
              <a:rPr lang="pt-PT" dirty="0" err="1">
                <a:latin typeface="Nunito"/>
                <a:ea typeface="+mn-lt"/>
                <a:cs typeface="+mn-lt"/>
              </a:rPr>
              <a:t>which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those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executing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the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code</a:t>
            </a:r>
            <a:r>
              <a:rPr lang="pt-PT" dirty="0">
                <a:latin typeface="Nunito"/>
                <a:ea typeface="+mn-lt"/>
                <a:cs typeface="+mn-lt"/>
              </a:rPr>
              <a:t> can </a:t>
            </a:r>
            <a:r>
              <a:rPr lang="pt-PT" dirty="0" err="1">
                <a:latin typeface="Nunito"/>
                <a:ea typeface="+mn-lt"/>
                <a:cs typeface="+mn-lt"/>
              </a:rPr>
              <a:t>have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high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levels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of</a:t>
            </a:r>
            <a:r>
              <a:rPr lang="pt-PT" dirty="0">
                <a:latin typeface="Nunito"/>
                <a:ea typeface="+mn-lt"/>
                <a:cs typeface="+mn-lt"/>
              </a:rPr>
              <a:t> trust</a:t>
            </a:r>
            <a:endParaRPr lang="pt-PT">
              <a:latin typeface="Nunito"/>
            </a:endParaRPr>
          </a:p>
          <a:p>
            <a:pPr marL="285750" indent="-285750">
              <a:buFont typeface="Arial"/>
              <a:buChar char="•"/>
            </a:pPr>
            <a:endParaRPr lang="pt-PT" dirty="0">
              <a:latin typeface="Nunito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pt-PT" dirty="0" err="1">
                <a:latin typeface="Nunito"/>
                <a:cs typeface="Arial"/>
              </a:rPr>
              <a:t>Guarantees</a:t>
            </a:r>
            <a:r>
              <a:rPr lang="pt-PT" dirty="0">
                <a:latin typeface="Nunito"/>
                <a:cs typeface="Arial"/>
              </a:rPr>
              <a:t> </a:t>
            </a:r>
            <a:r>
              <a:rPr lang="pt-PT" dirty="0" err="1">
                <a:latin typeface="Nunito"/>
                <a:cs typeface="Arial"/>
              </a:rPr>
              <a:t>the</a:t>
            </a:r>
            <a:r>
              <a:rPr lang="pt-PT" dirty="0">
                <a:latin typeface="Nunito"/>
                <a:cs typeface="Arial"/>
              </a:rPr>
              <a:t> </a:t>
            </a:r>
            <a:r>
              <a:rPr lang="pt-PT" dirty="0" err="1">
                <a:latin typeface="Nunito"/>
                <a:cs typeface="Arial"/>
              </a:rPr>
              <a:t>authenticity</a:t>
            </a:r>
            <a:r>
              <a:rPr lang="pt-PT" dirty="0">
                <a:latin typeface="Nunito"/>
                <a:cs typeface="Arial"/>
              </a:rPr>
              <a:t> </a:t>
            </a:r>
            <a:r>
              <a:rPr lang="pt-PT" dirty="0" err="1">
                <a:latin typeface="Nunito"/>
                <a:cs typeface="Arial"/>
              </a:rPr>
              <a:t>and</a:t>
            </a:r>
            <a:r>
              <a:rPr lang="pt-PT" dirty="0">
                <a:latin typeface="Nunito"/>
                <a:cs typeface="Arial"/>
              </a:rPr>
              <a:t> </a:t>
            </a:r>
            <a:r>
              <a:rPr lang="pt-PT" dirty="0" err="1">
                <a:latin typeface="Nunito"/>
                <a:cs typeface="Arial"/>
              </a:rPr>
              <a:t>confidentiality</a:t>
            </a:r>
            <a:r>
              <a:rPr lang="pt-PT" dirty="0">
                <a:latin typeface="Nunito"/>
                <a:cs typeface="Arial"/>
              </a:rPr>
              <a:t> </a:t>
            </a:r>
            <a:r>
              <a:rPr lang="pt-PT" dirty="0" err="1">
                <a:latin typeface="Nunito"/>
                <a:cs typeface="Arial"/>
              </a:rPr>
              <a:t>of</a:t>
            </a:r>
            <a:r>
              <a:rPr lang="pt-PT" dirty="0">
                <a:latin typeface="Nunito"/>
                <a:cs typeface="Arial"/>
              </a:rPr>
              <a:t> </a:t>
            </a:r>
            <a:r>
              <a:rPr lang="pt-PT" dirty="0" err="1">
                <a:latin typeface="Nunito"/>
                <a:cs typeface="Arial"/>
              </a:rPr>
              <a:t>the</a:t>
            </a:r>
            <a:r>
              <a:rPr lang="pt-PT" dirty="0">
                <a:latin typeface="Nunito"/>
                <a:cs typeface="Arial"/>
              </a:rPr>
              <a:t> </a:t>
            </a:r>
            <a:r>
              <a:rPr lang="pt-PT" dirty="0" err="1">
                <a:latin typeface="Nunito"/>
                <a:cs typeface="Arial"/>
              </a:rPr>
              <a:t>code</a:t>
            </a:r>
            <a:endParaRPr lang="pt-PT" dirty="0">
              <a:latin typeface="Nunito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pt-PT" dirty="0">
              <a:latin typeface="Nunito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pt-PT" dirty="0" err="1">
                <a:latin typeface="Nunito"/>
                <a:cs typeface="Arial"/>
              </a:rPr>
              <a:t>Resists</a:t>
            </a:r>
            <a:r>
              <a:rPr lang="pt-PT" dirty="0">
                <a:latin typeface="Nunito"/>
                <a:cs typeface="Arial"/>
              </a:rPr>
              <a:t> software </a:t>
            </a:r>
            <a:r>
              <a:rPr lang="pt-PT" dirty="0" err="1">
                <a:latin typeface="Nunito"/>
                <a:cs typeface="Arial"/>
              </a:rPr>
              <a:t>attacks</a:t>
            </a:r>
            <a:endParaRPr lang="pt-PT" dirty="0">
              <a:latin typeface="Nunito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pt-PT" dirty="0">
              <a:cs typeface="Arial"/>
            </a:endParaRPr>
          </a:p>
          <a:p>
            <a:endParaRPr lang="pt-PT" dirty="0">
              <a:cs typeface="Arial"/>
            </a:endParaRPr>
          </a:p>
          <a:p>
            <a:endParaRPr lang="pt-PT" dirty="0">
              <a:cs typeface="Arial"/>
            </a:endParaRPr>
          </a:p>
          <a:p>
            <a:endParaRPr lang="pt-PT" dirty="0"/>
          </a:p>
        </p:txBody>
      </p:sp>
      <p:pic>
        <p:nvPicPr>
          <p:cNvPr id="4" name="Imagem 4" descr="Uma imagem com eletrónica, circuito&#10;&#10;Descrição gerada automaticamente">
            <a:extLst>
              <a:ext uri="{FF2B5EF4-FFF2-40B4-BE49-F238E27FC236}">
                <a16:creationId xmlns:a16="http://schemas.microsoft.com/office/drawing/2014/main" id="{D66FECC5-9553-41C6-9642-3FE6C3583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67" y="2599863"/>
            <a:ext cx="3781816" cy="236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851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stomShape 1"/>
          <p:cNvSpPr/>
          <p:nvPr/>
        </p:nvSpPr>
        <p:spPr>
          <a:xfrm>
            <a:off x="0" y="229741"/>
            <a:ext cx="12191760" cy="68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-US" sz="4400" b="1" spc="-1" dirty="0">
                <a:solidFill>
                  <a:srgbClr val="1694B2"/>
                </a:solidFill>
                <a:latin typeface="Nunito"/>
                <a:cs typeface="Arial"/>
              </a:rPr>
              <a:t>Trusted</a:t>
            </a:r>
            <a:r>
              <a:rPr lang="en-US" sz="4400" b="1" spc="-1" dirty="0">
                <a:solidFill>
                  <a:srgbClr val="1694B2"/>
                </a:solidFill>
                <a:ea typeface="+mn-lt"/>
                <a:cs typeface="+mn-lt"/>
              </a:rPr>
              <a:t> </a:t>
            </a:r>
            <a:r>
              <a:rPr lang="en-US" sz="4400" b="1" spc="-1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Execution Environment</a:t>
            </a:r>
            <a:r>
              <a:rPr lang="en-US" sz="4400" b="1" spc="-1" dirty="0">
                <a:solidFill>
                  <a:srgbClr val="1694B2"/>
                </a:solidFill>
                <a:ea typeface="+mn-lt"/>
                <a:cs typeface="+mn-lt"/>
              </a:rPr>
              <a:t> </a:t>
            </a:r>
            <a:r>
              <a:rPr lang="en-US" sz="4400" b="1" spc="-1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(TEE)</a:t>
            </a:r>
            <a:endParaRPr lang="en-US" sz="4400" b="1" strike="noStrike" spc="-1">
              <a:solidFill>
                <a:srgbClr val="1694B2"/>
              </a:solidFill>
              <a:latin typeface="Nunito"/>
            </a:endParaRPr>
          </a:p>
        </p:txBody>
      </p:sp>
      <p:sp>
        <p:nvSpPr>
          <p:cNvPr id="84" name="CustomShape 2"/>
          <p:cNvSpPr/>
          <p:nvPr/>
        </p:nvSpPr>
        <p:spPr>
          <a:xfrm>
            <a:off x="0" y="6507720"/>
            <a:ext cx="12191760" cy="21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fld id="{DCB731D1-B609-40AC-A566-B30987D09182}" type="slidenum">
              <a:rPr lang="en-US" sz="1200" b="0" strike="noStrike" spc="-1">
                <a:solidFill>
                  <a:srgbClr val="8498A0"/>
                </a:solidFill>
                <a:latin typeface="Nunito"/>
                <a:ea typeface="Nunito"/>
              </a:rPr>
              <a:t>14</a:t>
            </a:fld>
            <a:endParaRPr lang="pt-PT" sz="1200" b="0" strike="noStrike" spc="-1">
              <a:latin typeface="Arial"/>
            </a:endParaRPr>
          </a:p>
        </p:txBody>
      </p:sp>
      <p:sp>
        <p:nvSpPr>
          <p:cNvPr id="85" name="CustomShape 3"/>
          <p:cNvSpPr/>
          <p:nvPr/>
        </p:nvSpPr>
        <p:spPr>
          <a:xfrm>
            <a:off x="52200" y="6392520"/>
            <a:ext cx="1301040" cy="39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303B3F"/>
                </a:solidFill>
                <a:latin typeface="Nunito"/>
                <a:ea typeface="Nunito"/>
              </a:rPr>
              <a:t>ESRG</a:t>
            </a:r>
            <a:r>
              <a:rPr lang="en-US" sz="1600" b="1" strike="noStrike" spc="-1">
                <a:solidFill>
                  <a:srgbClr val="8498A0"/>
                </a:solidFill>
                <a:latin typeface="Nunito"/>
                <a:ea typeface="Nunito"/>
              </a:rPr>
              <a:t>v3</a:t>
            </a:r>
            <a:endParaRPr lang="pt-PT" sz="1600" b="0" strike="noStrike" spc="-1">
              <a:latin typeface="Arial"/>
            </a:endParaRPr>
          </a:p>
        </p:txBody>
      </p:sp>
      <p:sp>
        <p:nvSpPr>
          <p:cNvPr id="86" name="CustomShape 4"/>
          <p:cNvSpPr/>
          <p:nvPr/>
        </p:nvSpPr>
        <p:spPr>
          <a:xfrm>
            <a:off x="0" y="1467360"/>
            <a:ext cx="12191760" cy="3083040"/>
          </a:xfrm>
          <a:prstGeom prst="rect">
            <a:avLst/>
          </a:prstGeom>
          <a:solidFill>
            <a:srgbClr val="8498A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" name="CustomShape 5"/>
          <p:cNvSpPr/>
          <p:nvPr/>
        </p:nvSpPr>
        <p:spPr>
          <a:xfrm>
            <a:off x="361440" y="1467360"/>
            <a:ext cx="3784680" cy="4741920"/>
          </a:xfrm>
          <a:prstGeom prst="rect">
            <a:avLst/>
          </a:prstGeom>
          <a:solidFill>
            <a:srgbClr val="303B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8" name="CustomShape 6"/>
          <p:cNvSpPr/>
          <p:nvPr/>
        </p:nvSpPr>
        <p:spPr>
          <a:xfrm>
            <a:off x="4146840" y="4580640"/>
            <a:ext cx="8044920" cy="162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endParaRPr lang="en-US" sz="2400" b="1" strike="noStrike" spc="-1" dirty="0">
              <a:solidFill>
                <a:srgbClr val="303B3F"/>
              </a:solidFill>
              <a:latin typeface="Nunito"/>
            </a:endParaRPr>
          </a:p>
        </p:txBody>
      </p:sp>
      <p:sp>
        <p:nvSpPr>
          <p:cNvPr id="89" name="CustomShape 7"/>
          <p:cNvSpPr/>
          <p:nvPr/>
        </p:nvSpPr>
        <p:spPr>
          <a:xfrm>
            <a:off x="361440" y="1467360"/>
            <a:ext cx="3784680" cy="47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700" b="1" strike="noStrike" spc="-1" dirty="0">
              <a:solidFill>
                <a:srgbClr val="FFFFFF"/>
              </a:solidFill>
              <a:latin typeface="Nunito"/>
            </a:endParaRPr>
          </a:p>
        </p:txBody>
      </p:sp>
      <p:sp>
        <p:nvSpPr>
          <p:cNvPr id="90" name="CustomShape 8"/>
          <p:cNvSpPr/>
          <p:nvPr/>
        </p:nvSpPr>
        <p:spPr>
          <a:xfrm>
            <a:off x="10591920" y="6392520"/>
            <a:ext cx="159984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000" b="1" strike="noStrike" spc="-1" dirty="0">
              <a:solidFill>
                <a:srgbClr val="303B3F"/>
              </a:solidFill>
              <a:latin typeface="Nunito"/>
            </a:endParaRPr>
          </a:p>
          <a:p>
            <a:pPr>
              <a:tabLst>
                <a:tab pos="0" algn="l"/>
              </a:tabLst>
            </a:pPr>
            <a:endParaRPr lang="en-US" sz="2000" b="1" spc="-1" dirty="0">
              <a:solidFill>
                <a:srgbClr val="303B3F"/>
              </a:solidFill>
              <a:latin typeface="Nunito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156F1AB-8C24-425B-8D8B-4D82EDD1396C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6BBFFD7-7C3B-41AB-BED4-70FC5C081A42}"/>
              </a:ext>
            </a:extLst>
          </p:cNvPr>
          <p:cNvSpPr txBox="1"/>
          <p:nvPr/>
        </p:nvSpPr>
        <p:spPr>
          <a:xfrm>
            <a:off x="4145192" y="1715847"/>
            <a:ext cx="8106572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PT" dirty="0">
              <a:latin typeface="Nunito"/>
            </a:endParaRPr>
          </a:p>
          <a:p>
            <a:pPr marL="285750" indent="-285750">
              <a:buFont typeface="Arial"/>
              <a:buChar char="•"/>
            </a:pPr>
            <a:r>
              <a:rPr lang="pt-PT" dirty="0" err="1">
                <a:latin typeface="Nunito"/>
                <a:ea typeface="+mn-lt"/>
                <a:cs typeface="+mn-lt"/>
              </a:rPr>
              <a:t>Isolated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environment</a:t>
            </a:r>
            <a:r>
              <a:rPr lang="pt-PT" dirty="0">
                <a:latin typeface="Nunito"/>
                <a:ea typeface="+mn-lt"/>
                <a:cs typeface="+mn-lt"/>
              </a:rPr>
              <a:t> for </a:t>
            </a:r>
            <a:r>
              <a:rPr lang="pt-PT" dirty="0" err="1">
                <a:latin typeface="Nunito"/>
                <a:ea typeface="+mn-lt"/>
                <a:cs typeface="+mn-lt"/>
              </a:rPr>
              <a:t>executing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code</a:t>
            </a:r>
            <a:r>
              <a:rPr lang="pt-PT" dirty="0">
                <a:latin typeface="Nunito"/>
                <a:ea typeface="+mn-lt"/>
                <a:cs typeface="+mn-lt"/>
              </a:rPr>
              <a:t>, in </a:t>
            </a:r>
            <a:r>
              <a:rPr lang="pt-PT" dirty="0" err="1">
                <a:latin typeface="Nunito"/>
                <a:ea typeface="+mn-lt"/>
                <a:cs typeface="+mn-lt"/>
              </a:rPr>
              <a:t>which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those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executing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the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code</a:t>
            </a:r>
            <a:r>
              <a:rPr lang="pt-PT" dirty="0">
                <a:latin typeface="Nunito"/>
                <a:ea typeface="+mn-lt"/>
                <a:cs typeface="+mn-lt"/>
              </a:rPr>
              <a:t> can </a:t>
            </a:r>
            <a:r>
              <a:rPr lang="pt-PT" dirty="0" err="1">
                <a:latin typeface="Nunito"/>
                <a:ea typeface="+mn-lt"/>
                <a:cs typeface="+mn-lt"/>
              </a:rPr>
              <a:t>have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high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levels</a:t>
            </a:r>
            <a:r>
              <a:rPr lang="pt-PT" dirty="0">
                <a:latin typeface="Nunito"/>
                <a:ea typeface="+mn-lt"/>
                <a:cs typeface="+mn-lt"/>
              </a:rPr>
              <a:t> </a:t>
            </a:r>
            <a:r>
              <a:rPr lang="pt-PT" dirty="0" err="1">
                <a:latin typeface="Nunito"/>
                <a:ea typeface="+mn-lt"/>
                <a:cs typeface="+mn-lt"/>
              </a:rPr>
              <a:t>of</a:t>
            </a:r>
            <a:r>
              <a:rPr lang="pt-PT" dirty="0">
                <a:latin typeface="Nunito"/>
                <a:ea typeface="+mn-lt"/>
                <a:cs typeface="+mn-lt"/>
              </a:rPr>
              <a:t> trust</a:t>
            </a:r>
            <a:endParaRPr lang="pt-PT">
              <a:latin typeface="Nunito"/>
            </a:endParaRPr>
          </a:p>
          <a:p>
            <a:pPr marL="285750" indent="-285750">
              <a:buFont typeface="Arial"/>
              <a:buChar char="•"/>
            </a:pPr>
            <a:endParaRPr lang="pt-PT" dirty="0">
              <a:latin typeface="Nunito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pt-PT" dirty="0" err="1">
                <a:latin typeface="Nunito"/>
                <a:cs typeface="Arial"/>
              </a:rPr>
              <a:t>Guarantees</a:t>
            </a:r>
            <a:r>
              <a:rPr lang="pt-PT" dirty="0">
                <a:latin typeface="Nunito"/>
                <a:cs typeface="Arial"/>
              </a:rPr>
              <a:t> </a:t>
            </a:r>
            <a:r>
              <a:rPr lang="pt-PT" dirty="0" err="1">
                <a:latin typeface="Nunito"/>
                <a:cs typeface="Arial"/>
              </a:rPr>
              <a:t>the</a:t>
            </a:r>
            <a:r>
              <a:rPr lang="pt-PT" dirty="0">
                <a:latin typeface="Nunito"/>
                <a:cs typeface="Arial"/>
              </a:rPr>
              <a:t> </a:t>
            </a:r>
            <a:r>
              <a:rPr lang="pt-PT" dirty="0" err="1">
                <a:latin typeface="Nunito"/>
                <a:cs typeface="Arial"/>
              </a:rPr>
              <a:t>authenticity</a:t>
            </a:r>
            <a:r>
              <a:rPr lang="pt-PT" dirty="0">
                <a:latin typeface="Nunito"/>
                <a:cs typeface="Arial"/>
              </a:rPr>
              <a:t> </a:t>
            </a:r>
            <a:r>
              <a:rPr lang="pt-PT" dirty="0" err="1">
                <a:latin typeface="Nunito"/>
                <a:cs typeface="Arial"/>
              </a:rPr>
              <a:t>and</a:t>
            </a:r>
            <a:r>
              <a:rPr lang="pt-PT" dirty="0">
                <a:latin typeface="Nunito"/>
                <a:cs typeface="Arial"/>
              </a:rPr>
              <a:t> </a:t>
            </a:r>
            <a:r>
              <a:rPr lang="pt-PT" dirty="0" err="1">
                <a:latin typeface="Nunito"/>
                <a:cs typeface="Arial"/>
              </a:rPr>
              <a:t>confidentiality</a:t>
            </a:r>
            <a:r>
              <a:rPr lang="pt-PT" dirty="0">
                <a:latin typeface="Nunito"/>
                <a:cs typeface="Arial"/>
              </a:rPr>
              <a:t> </a:t>
            </a:r>
            <a:r>
              <a:rPr lang="pt-PT" dirty="0" err="1">
                <a:latin typeface="Nunito"/>
                <a:cs typeface="Arial"/>
              </a:rPr>
              <a:t>of</a:t>
            </a:r>
            <a:r>
              <a:rPr lang="pt-PT" dirty="0">
                <a:latin typeface="Nunito"/>
                <a:cs typeface="Arial"/>
              </a:rPr>
              <a:t> </a:t>
            </a:r>
            <a:r>
              <a:rPr lang="pt-PT" dirty="0" err="1">
                <a:latin typeface="Nunito"/>
                <a:cs typeface="Arial"/>
              </a:rPr>
              <a:t>the</a:t>
            </a:r>
            <a:r>
              <a:rPr lang="pt-PT" dirty="0">
                <a:latin typeface="Nunito"/>
                <a:cs typeface="Arial"/>
              </a:rPr>
              <a:t> </a:t>
            </a:r>
            <a:r>
              <a:rPr lang="pt-PT" dirty="0" err="1">
                <a:latin typeface="Nunito"/>
                <a:cs typeface="Arial"/>
              </a:rPr>
              <a:t>code</a:t>
            </a:r>
            <a:endParaRPr lang="pt-PT" dirty="0">
              <a:latin typeface="Nunito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pt-PT" dirty="0">
              <a:latin typeface="Nunito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pt-PT" dirty="0" err="1">
                <a:latin typeface="Nunito"/>
                <a:cs typeface="Arial"/>
              </a:rPr>
              <a:t>Resists</a:t>
            </a:r>
            <a:r>
              <a:rPr lang="pt-PT" dirty="0">
                <a:latin typeface="Nunito"/>
                <a:cs typeface="Arial"/>
              </a:rPr>
              <a:t> software </a:t>
            </a:r>
            <a:r>
              <a:rPr lang="pt-PT" dirty="0" err="1">
                <a:latin typeface="Nunito"/>
                <a:cs typeface="Arial"/>
              </a:rPr>
              <a:t>attacks</a:t>
            </a:r>
            <a:endParaRPr lang="pt-PT" dirty="0">
              <a:latin typeface="Nunito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pt-PT" dirty="0">
              <a:latin typeface="Nunito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pt-PT" dirty="0" err="1">
                <a:latin typeface="Nunito"/>
                <a:cs typeface="Arial"/>
              </a:rPr>
              <a:t>We</a:t>
            </a:r>
            <a:r>
              <a:rPr lang="pt-PT" dirty="0">
                <a:latin typeface="Nunito"/>
                <a:cs typeface="Arial"/>
              </a:rPr>
              <a:t> </a:t>
            </a:r>
            <a:r>
              <a:rPr lang="pt-PT" dirty="0" err="1">
                <a:latin typeface="Nunito"/>
                <a:cs typeface="Arial"/>
              </a:rPr>
              <a:t>will</a:t>
            </a:r>
            <a:r>
              <a:rPr lang="pt-PT" dirty="0">
                <a:latin typeface="Nunito"/>
                <a:cs typeface="Arial"/>
              </a:rPr>
              <a:t> </a:t>
            </a:r>
            <a:r>
              <a:rPr lang="pt-PT" dirty="0" err="1">
                <a:latin typeface="Nunito"/>
                <a:cs typeface="Arial"/>
              </a:rPr>
              <a:t>study</a:t>
            </a:r>
            <a:r>
              <a:rPr lang="pt-PT" dirty="0">
                <a:latin typeface="Nunito"/>
                <a:cs typeface="Arial"/>
              </a:rPr>
              <a:t> </a:t>
            </a:r>
            <a:r>
              <a:rPr lang="pt-PT" dirty="0" err="1">
                <a:latin typeface="Nunito"/>
                <a:cs typeface="Arial"/>
              </a:rPr>
              <a:t>how</a:t>
            </a:r>
            <a:r>
              <a:rPr lang="pt-PT" dirty="0">
                <a:latin typeface="Nunito"/>
                <a:cs typeface="Arial"/>
              </a:rPr>
              <a:t> TEE can improve Blockchain </a:t>
            </a:r>
            <a:r>
              <a:rPr lang="pt-PT" dirty="0" err="1">
                <a:latin typeface="Nunito"/>
                <a:cs typeface="Arial"/>
              </a:rPr>
              <a:t>security</a:t>
            </a:r>
            <a:r>
              <a:rPr lang="pt-PT" dirty="0">
                <a:latin typeface="Nunito"/>
                <a:cs typeface="Arial"/>
              </a:rPr>
              <a:t> </a:t>
            </a:r>
            <a:r>
              <a:rPr lang="pt-PT" dirty="0" err="1">
                <a:latin typeface="Nunito"/>
                <a:cs typeface="Arial"/>
              </a:rPr>
              <a:t>problems</a:t>
            </a:r>
            <a:endParaRPr lang="pt-PT">
              <a:latin typeface="Nunito"/>
              <a:cs typeface="Arial"/>
            </a:endParaRPr>
          </a:p>
          <a:p>
            <a:endParaRPr lang="pt-PT" dirty="0">
              <a:cs typeface="Arial"/>
            </a:endParaRPr>
          </a:p>
          <a:p>
            <a:endParaRPr lang="pt-PT" dirty="0"/>
          </a:p>
        </p:txBody>
      </p:sp>
      <p:pic>
        <p:nvPicPr>
          <p:cNvPr id="4" name="Imagem 4" descr="Uma imagem com eletrónica, circuito&#10;&#10;Descrição gerada automaticamente">
            <a:extLst>
              <a:ext uri="{FF2B5EF4-FFF2-40B4-BE49-F238E27FC236}">
                <a16:creationId xmlns:a16="http://schemas.microsoft.com/office/drawing/2014/main" id="{D66FECC5-9553-41C6-9642-3FE6C3583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67" y="2599863"/>
            <a:ext cx="3781816" cy="236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36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CustomShap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303B3F"/>
          </a:solidFill>
          <a:ln w="12600">
            <a:solidFill>
              <a:srgbClr val="42719B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3" name="CustomShape 2"/>
          <p:cNvSpPr/>
          <p:nvPr/>
        </p:nvSpPr>
        <p:spPr>
          <a:xfrm>
            <a:off x="0" y="5910840"/>
            <a:ext cx="121917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600">
            <a:solidFill>
              <a:schemeClr val="lt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4" name="CustomShape 3"/>
          <p:cNvSpPr/>
          <p:nvPr/>
        </p:nvSpPr>
        <p:spPr>
          <a:xfrm>
            <a:off x="5591160" y="5029200"/>
            <a:ext cx="6600600" cy="881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5400" b="1" spc="-1" dirty="0">
                <a:solidFill>
                  <a:srgbClr val="FFFFFF"/>
                </a:solidFill>
                <a:latin typeface="Nunito"/>
              </a:rPr>
              <a:t>Motivation</a:t>
            </a:r>
            <a:endParaRPr lang="pt-PT" sz="5400" dirty="0"/>
          </a:p>
        </p:txBody>
      </p:sp>
      <p:sp>
        <p:nvSpPr>
          <p:cNvPr id="165" name="CustomShape 4"/>
          <p:cNvSpPr/>
          <p:nvPr/>
        </p:nvSpPr>
        <p:spPr>
          <a:xfrm>
            <a:off x="4896000" y="6003360"/>
            <a:ext cx="7295760" cy="558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 dirty="0">
              <a:solidFill>
                <a:srgbClr val="8498A0"/>
              </a:solidFill>
              <a:latin typeface="Nun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CustomShape 1"/>
          <p:cNvSpPr/>
          <p:nvPr/>
        </p:nvSpPr>
        <p:spPr>
          <a:xfrm>
            <a:off x="1166327" y="344580"/>
            <a:ext cx="9858240" cy="909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ctr">
            <a:norm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-US" sz="3900" b="1" spc="-1">
                <a:solidFill>
                  <a:srgbClr val="303B3F"/>
                </a:solidFill>
                <a:latin typeface="Nunito"/>
              </a:rPr>
              <a:t>Motivation</a:t>
            </a:r>
            <a:endParaRPr lang="en-US" sz="3900" b="1" strike="noStrike" spc="-1">
              <a:solidFill>
                <a:srgbClr val="303B3F"/>
              </a:solidFill>
              <a:latin typeface="Nunito"/>
            </a:endParaRPr>
          </a:p>
        </p:txBody>
      </p:sp>
      <p:sp>
        <p:nvSpPr>
          <p:cNvPr id="329" name="CustomShape 2"/>
          <p:cNvSpPr/>
          <p:nvPr/>
        </p:nvSpPr>
        <p:spPr>
          <a:xfrm>
            <a:off x="0" y="6507720"/>
            <a:ext cx="12191760" cy="21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fld id="{62A4179E-657B-4630-A7DD-A13FDDFE362B}" type="slidenum">
              <a:rPr lang="en-US" sz="1200" b="0" strike="noStrike" spc="-1" dirty="0">
                <a:solidFill>
                  <a:srgbClr val="8498A0"/>
                </a:solidFill>
                <a:latin typeface="Nunito"/>
                <a:ea typeface="Nunito"/>
              </a:rPr>
              <a:t>16</a:t>
            </a:fld>
            <a:endParaRPr lang="pt-PT" sz="1200" b="0" strike="noStrike" spc="-1" dirty="0">
              <a:latin typeface="Arial"/>
            </a:endParaRPr>
          </a:p>
        </p:txBody>
      </p:sp>
      <p:sp>
        <p:nvSpPr>
          <p:cNvPr id="330" name="CustomShape 3"/>
          <p:cNvSpPr/>
          <p:nvPr/>
        </p:nvSpPr>
        <p:spPr>
          <a:xfrm>
            <a:off x="52200" y="6392520"/>
            <a:ext cx="1301040" cy="39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303B3F"/>
                </a:solidFill>
                <a:latin typeface="Nunito"/>
                <a:ea typeface="Nunito"/>
              </a:rPr>
              <a:t>ESRG</a:t>
            </a:r>
            <a:r>
              <a:rPr lang="en-US" sz="1600" b="1" strike="noStrike" spc="-1" dirty="0">
                <a:solidFill>
                  <a:srgbClr val="8498A0"/>
                </a:solidFill>
                <a:latin typeface="Nunito"/>
                <a:ea typeface="Nunito"/>
              </a:rPr>
              <a:t>v3</a:t>
            </a:r>
            <a:endParaRPr lang="pt-PT" sz="1600" b="0" strike="noStrike" spc="-1" dirty="0">
              <a:latin typeface="Arial"/>
            </a:endParaRPr>
          </a:p>
        </p:txBody>
      </p:sp>
      <p:sp>
        <p:nvSpPr>
          <p:cNvPr id="331" name="CustomShape 4"/>
          <p:cNvSpPr/>
          <p:nvPr/>
        </p:nvSpPr>
        <p:spPr>
          <a:xfrm>
            <a:off x="0" y="1788748"/>
            <a:ext cx="12191760" cy="3047040"/>
          </a:xfrm>
          <a:prstGeom prst="rect">
            <a:avLst/>
          </a:prstGeom>
          <a:solidFill>
            <a:srgbClr val="8498A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4">
            <a:extLst>
              <a:ext uri="{FF2B5EF4-FFF2-40B4-BE49-F238E27FC236}">
                <a16:creationId xmlns:a16="http://schemas.microsoft.com/office/drawing/2014/main" id="{ABDA0A32-3F94-4084-B583-D1530D80336A}"/>
              </a:ext>
            </a:extLst>
          </p:cNvPr>
          <p:cNvSpPr/>
          <p:nvPr/>
        </p:nvSpPr>
        <p:spPr>
          <a:xfrm rot="5400000">
            <a:off x="-1229767" y="3022355"/>
            <a:ext cx="3043080" cy="597092"/>
          </a:xfrm>
          <a:prstGeom prst="triangle">
            <a:avLst>
              <a:gd name="adj" fmla="val 49348"/>
            </a:avLst>
          </a:prstGeom>
          <a:solidFill>
            <a:srgbClr val="8498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8">
            <a:extLst>
              <a:ext uri="{FF2B5EF4-FFF2-40B4-BE49-F238E27FC236}">
                <a16:creationId xmlns:a16="http://schemas.microsoft.com/office/drawing/2014/main" id="{02552267-DC89-43B1-9D7D-273B76BE0162}"/>
              </a:ext>
            </a:extLst>
          </p:cNvPr>
          <p:cNvSpPr/>
          <p:nvPr/>
        </p:nvSpPr>
        <p:spPr>
          <a:xfrm>
            <a:off x="813118" y="2910551"/>
            <a:ext cx="4221361" cy="807840"/>
          </a:xfrm>
          <a:prstGeom prst="roundRect">
            <a:avLst>
              <a:gd name="adj" fmla="val 0"/>
            </a:avLst>
          </a:prstGeom>
          <a:solidFill>
            <a:srgbClr val="8498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9">
            <a:extLst>
              <a:ext uri="{FF2B5EF4-FFF2-40B4-BE49-F238E27FC236}">
                <a16:creationId xmlns:a16="http://schemas.microsoft.com/office/drawing/2014/main" id="{3C95AA16-213A-40D9-8F8E-48F66C9A6010}"/>
              </a:ext>
            </a:extLst>
          </p:cNvPr>
          <p:cNvSpPr/>
          <p:nvPr/>
        </p:nvSpPr>
        <p:spPr>
          <a:xfrm>
            <a:off x="1938317" y="3656368"/>
            <a:ext cx="3403080" cy="30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i="1" strike="noStrike" spc="-1" dirty="0">
              <a:solidFill>
                <a:srgbClr val="FFFFFF"/>
              </a:solidFill>
              <a:latin typeface="Nunito"/>
            </a:endParaRPr>
          </a:p>
        </p:txBody>
      </p:sp>
      <p:sp>
        <p:nvSpPr>
          <p:cNvPr id="27" name="CustomShape 11">
            <a:extLst>
              <a:ext uri="{FF2B5EF4-FFF2-40B4-BE49-F238E27FC236}">
                <a16:creationId xmlns:a16="http://schemas.microsoft.com/office/drawing/2014/main" id="{7F77573D-3628-419F-8348-CE43D409E0E6}"/>
              </a:ext>
            </a:extLst>
          </p:cNvPr>
          <p:cNvSpPr/>
          <p:nvPr/>
        </p:nvSpPr>
        <p:spPr>
          <a:xfrm>
            <a:off x="815350" y="3987673"/>
            <a:ext cx="4216178" cy="847440"/>
          </a:xfrm>
          <a:prstGeom prst="roundRect">
            <a:avLst>
              <a:gd name="adj" fmla="val 0"/>
            </a:avLst>
          </a:prstGeom>
          <a:solidFill>
            <a:srgbClr val="8498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" name="CustomShape 8">
            <a:extLst>
              <a:ext uri="{FF2B5EF4-FFF2-40B4-BE49-F238E27FC236}">
                <a16:creationId xmlns:a16="http://schemas.microsoft.com/office/drawing/2014/main" id="{CC9856F8-647F-4D9C-ADDF-A735823DD8A4}"/>
              </a:ext>
            </a:extLst>
          </p:cNvPr>
          <p:cNvSpPr/>
          <p:nvPr/>
        </p:nvSpPr>
        <p:spPr>
          <a:xfrm>
            <a:off x="813118" y="1801244"/>
            <a:ext cx="4221361" cy="807840"/>
          </a:xfrm>
          <a:prstGeom prst="roundRect">
            <a:avLst>
              <a:gd name="adj" fmla="val 0"/>
            </a:avLst>
          </a:prstGeom>
          <a:solidFill>
            <a:srgbClr val="8498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85BCACF6-54F7-468F-A982-C33DECED368B}"/>
              </a:ext>
            </a:extLst>
          </p:cNvPr>
          <p:cNvSpPr txBox="1"/>
          <p:nvPr/>
        </p:nvSpPr>
        <p:spPr>
          <a:xfrm>
            <a:off x="814614" y="3135604"/>
            <a:ext cx="421536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000" dirty="0" err="1">
                <a:latin typeface="Nunito"/>
              </a:rPr>
              <a:t>Work</a:t>
            </a:r>
            <a:r>
              <a:rPr lang="pt-PT" sz="2000" dirty="0">
                <a:latin typeface="Nunito"/>
              </a:rPr>
              <a:t> in </a:t>
            </a:r>
            <a:r>
              <a:rPr lang="pt-PT" sz="2000" dirty="0" err="1">
                <a:latin typeface="Nunito"/>
              </a:rPr>
              <a:t>Security</a:t>
            </a:r>
            <a:r>
              <a:rPr lang="pt-PT" sz="2000" dirty="0">
                <a:latin typeface="Nunito"/>
              </a:rPr>
              <a:t> </a:t>
            </a:r>
            <a:r>
              <a:rPr lang="pt-PT" sz="2000" dirty="0" err="1">
                <a:latin typeface="Nunito"/>
              </a:rPr>
              <a:t>Analysis</a:t>
            </a:r>
            <a:endParaRPr lang="pt-PT" sz="2000">
              <a:latin typeface="Nunito"/>
            </a:endParaRPr>
          </a:p>
        </p:txBody>
      </p:sp>
      <p:sp>
        <p:nvSpPr>
          <p:cNvPr id="56" name="CustomShape 8">
            <a:extLst>
              <a:ext uri="{FF2B5EF4-FFF2-40B4-BE49-F238E27FC236}">
                <a16:creationId xmlns:a16="http://schemas.microsoft.com/office/drawing/2014/main" id="{2DAAB84F-037F-4CA1-83A7-A59A89C65F37}"/>
              </a:ext>
            </a:extLst>
          </p:cNvPr>
          <p:cNvSpPr/>
          <p:nvPr/>
        </p:nvSpPr>
        <p:spPr>
          <a:xfrm>
            <a:off x="7170607" y="1805054"/>
            <a:ext cx="4221361" cy="807840"/>
          </a:xfrm>
          <a:prstGeom prst="roundRect">
            <a:avLst>
              <a:gd name="adj" fmla="val 0"/>
            </a:avLst>
          </a:prstGeom>
          <a:solidFill>
            <a:srgbClr val="8498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6BB2EF64-B2D7-4C70-B6FF-80D5A474E42F}"/>
              </a:ext>
            </a:extLst>
          </p:cNvPr>
          <p:cNvSpPr txBox="1"/>
          <p:nvPr/>
        </p:nvSpPr>
        <p:spPr>
          <a:xfrm>
            <a:off x="7174979" y="3140139"/>
            <a:ext cx="40494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PT" dirty="0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7339AC52-BE52-4C8F-B5A0-6784CB501DE1}"/>
              </a:ext>
            </a:extLst>
          </p:cNvPr>
          <p:cNvSpPr txBox="1"/>
          <p:nvPr/>
        </p:nvSpPr>
        <p:spPr>
          <a:xfrm>
            <a:off x="7171094" y="2018522"/>
            <a:ext cx="422054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000" dirty="0" err="1">
                <a:latin typeface="Nunito"/>
              </a:rPr>
              <a:t>Work</a:t>
            </a:r>
            <a:r>
              <a:rPr lang="pt-PT" sz="2000" dirty="0">
                <a:latin typeface="Nunito"/>
              </a:rPr>
              <a:t> </a:t>
            </a:r>
            <a:r>
              <a:rPr lang="pt-PT" sz="2000" dirty="0" err="1">
                <a:latin typeface="Nunito"/>
              </a:rPr>
              <a:t>with</a:t>
            </a:r>
            <a:r>
              <a:rPr lang="pt-PT" sz="2000" dirty="0">
                <a:latin typeface="Nunito"/>
              </a:rPr>
              <a:t> Linux</a:t>
            </a:r>
            <a:endParaRPr lang="pt-PT" sz="2000" dirty="0">
              <a:latin typeface="Nunito"/>
              <a:cs typeface="Arial"/>
            </a:endParaRPr>
          </a:p>
        </p:txBody>
      </p:sp>
      <p:sp>
        <p:nvSpPr>
          <p:cNvPr id="59" name="CustomShape 8">
            <a:extLst>
              <a:ext uri="{FF2B5EF4-FFF2-40B4-BE49-F238E27FC236}">
                <a16:creationId xmlns:a16="http://schemas.microsoft.com/office/drawing/2014/main" id="{EC92904F-29C4-4A35-A142-9E604EC180E8}"/>
              </a:ext>
            </a:extLst>
          </p:cNvPr>
          <p:cNvSpPr/>
          <p:nvPr/>
        </p:nvSpPr>
        <p:spPr>
          <a:xfrm>
            <a:off x="7174416" y="4040590"/>
            <a:ext cx="4221361" cy="807840"/>
          </a:xfrm>
          <a:prstGeom prst="roundRect">
            <a:avLst>
              <a:gd name="adj" fmla="val 0"/>
            </a:avLst>
          </a:prstGeom>
          <a:solidFill>
            <a:srgbClr val="8498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588B60E-4B63-4E08-8F36-C5D92DC037FF}"/>
              </a:ext>
            </a:extLst>
          </p:cNvPr>
          <p:cNvSpPr txBox="1"/>
          <p:nvPr/>
        </p:nvSpPr>
        <p:spPr>
          <a:xfrm>
            <a:off x="816301" y="4229113"/>
            <a:ext cx="421017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000" dirty="0" err="1">
                <a:latin typeface="Nunito"/>
              </a:rPr>
              <a:t>Work</a:t>
            </a:r>
            <a:r>
              <a:rPr lang="pt-PT" sz="2000" dirty="0">
                <a:latin typeface="Nunito"/>
              </a:rPr>
              <a:t> </a:t>
            </a:r>
            <a:r>
              <a:rPr lang="pt-PT" sz="2000" dirty="0" err="1">
                <a:latin typeface="Nunito"/>
              </a:rPr>
              <a:t>with</a:t>
            </a:r>
            <a:r>
              <a:rPr lang="pt-PT" sz="2000" dirty="0">
                <a:latin typeface="Nunito"/>
              </a:rPr>
              <a:t> </a:t>
            </a:r>
            <a:r>
              <a:rPr lang="pt-PT" sz="2000" dirty="0" err="1">
                <a:latin typeface="Nunito"/>
              </a:rPr>
              <a:t>TEEs</a:t>
            </a:r>
            <a:endParaRPr lang="pt-PT" sz="2000" dirty="0" err="1">
              <a:latin typeface="Nunito"/>
              <a:cs typeface="Arial"/>
            </a:endParaRPr>
          </a:p>
        </p:txBody>
      </p:sp>
      <p:sp>
        <p:nvSpPr>
          <p:cNvPr id="61" name="CustomShape 8">
            <a:extLst>
              <a:ext uri="{FF2B5EF4-FFF2-40B4-BE49-F238E27FC236}">
                <a16:creationId xmlns:a16="http://schemas.microsoft.com/office/drawing/2014/main" id="{3BEF89D5-226A-4AEF-B9F7-6A9A1F1A3DB8}"/>
              </a:ext>
            </a:extLst>
          </p:cNvPr>
          <p:cNvSpPr/>
          <p:nvPr/>
        </p:nvSpPr>
        <p:spPr>
          <a:xfrm>
            <a:off x="7169473" y="2905366"/>
            <a:ext cx="4221361" cy="807840"/>
          </a:xfrm>
          <a:prstGeom prst="roundRect">
            <a:avLst>
              <a:gd name="adj" fmla="val 0"/>
            </a:avLst>
          </a:prstGeom>
          <a:solidFill>
            <a:srgbClr val="8498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E5548E2A-B2A1-4411-8DCD-DEF162FADA7D}"/>
              </a:ext>
            </a:extLst>
          </p:cNvPr>
          <p:cNvSpPr txBox="1"/>
          <p:nvPr/>
        </p:nvSpPr>
        <p:spPr>
          <a:xfrm>
            <a:off x="825574" y="2002909"/>
            <a:ext cx="419981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000" dirty="0" err="1">
                <a:latin typeface="Nunito"/>
              </a:rPr>
              <a:t>Work</a:t>
            </a:r>
            <a:r>
              <a:rPr lang="pt-PT" sz="2000" dirty="0">
                <a:latin typeface="Nunito"/>
              </a:rPr>
              <a:t> </a:t>
            </a:r>
            <a:r>
              <a:rPr lang="pt-PT" sz="2000" dirty="0" err="1">
                <a:latin typeface="Nunito"/>
              </a:rPr>
              <a:t>with</a:t>
            </a:r>
            <a:r>
              <a:rPr lang="pt-PT" sz="2000" dirty="0">
                <a:latin typeface="Nunito"/>
              </a:rPr>
              <a:t> Blockchain </a:t>
            </a:r>
            <a:r>
              <a:rPr lang="pt-PT" sz="2000" dirty="0" err="1">
                <a:latin typeface="Nunito"/>
              </a:rPr>
              <a:t>Technology</a:t>
            </a:r>
            <a:endParaRPr lang="pt-PT" sz="2000" dirty="0" err="1">
              <a:latin typeface="Nunito"/>
              <a:cs typeface="Arial"/>
            </a:endParaRPr>
          </a:p>
        </p:txBody>
      </p:sp>
      <p:sp>
        <p:nvSpPr>
          <p:cNvPr id="63" name="CustomShape 4">
            <a:extLst>
              <a:ext uri="{FF2B5EF4-FFF2-40B4-BE49-F238E27FC236}">
                <a16:creationId xmlns:a16="http://schemas.microsoft.com/office/drawing/2014/main" id="{D76AD860-883D-47EB-B5C7-716FDE41CFAC}"/>
              </a:ext>
            </a:extLst>
          </p:cNvPr>
          <p:cNvSpPr/>
          <p:nvPr/>
        </p:nvSpPr>
        <p:spPr>
          <a:xfrm rot="-5400000">
            <a:off x="10371295" y="3011987"/>
            <a:ext cx="3043080" cy="597092"/>
          </a:xfrm>
          <a:prstGeom prst="triangle">
            <a:avLst>
              <a:gd name="adj" fmla="val 49348"/>
            </a:avLst>
          </a:prstGeom>
          <a:solidFill>
            <a:srgbClr val="8498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09403500-B271-4B80-B58F-AECE637B6CA7}"/>
              </a:ext>
            </a:extLst>
          </p:cNvPr>
          <p:cNvSpPr txBox="1"/>
          <p:nvPr/>
        </p:nvSpPr>
        <p:spPr>
          <a:xfrm>
            <a:off x="7168537" y="3140147"/>
            <a:ext cx="421984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000" dirty="0" err="1">
                <a:latin typeface="Nunito"/>
              </a:rPr>
              <a:t>Work</a:t>
            </a:r>
            <a:r>
              <a:rPr lang="pt-PT" sz="2000" dirty="0">
                <a:latin typeface="Nunito"/>
              </a:rPr>
              <a:t> in open-</a:t>
            </a:r>
            <a:r>
              <a:rPr lang="pt-PT" sz="2000" dirty="0" err="1">
                <a:latin typeface="Nunito"/>
              </a:rPr>
              <a:t>source</a:t>
            </a:r>
            <a:r>
              <a:rPr lang="pt-PT" sz="2000" dirty="0">
                <a:latin typeface="Nunito"/>
              </a:rPr>
              <a:t> </a:t>
            </a:r>
            <a:r>
              <a:rPr lang="pt-PT" sz="2000" dirty="0" err="1">
                <a:latin typeface="Nunito"/>
              </a:rPr>
              <a:t>projects</a:t>
            </a:r>
            <a:endParaRPr lang="pt-PT" sz="2000">
              <a:latin typeface="Nunito"/>
            </a:endParaRP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95882F85-D846-409A-9FE0-2080DAA34829}"/>
              </a:ext>
            </a:extLst>
          </p:cNvPr>
          <p:cNvSpPr txBox="1"/>
          <p:nvPr/>
        </p:nvSpPr>
        <p:spPr>
          <a:xfrm>
            <a:off x="7169798" y="4093937"/>
            <a:ext cx="422054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000" dirty="0" err="1">
                <a:latin typeface="Nunito"/>
              </a:rPr>
              <a:t>Work</a:t>
            </a:r>
            <a:r>
              <a:rPr lang="pt-PT" sz="2000" dirty="0">
                <a:latin typeface="Nunito"/>
              </a:rPr>
              <a:t> in </a:t>
            </a:r>
            <a:r>
              <a:rPr lang="pt-PT" sz="2000" dirty="0" err="1">
                <a:latin typeface="Nunito"/>
              </a:rPr>
              <a:t>upcoming</a:t>
            </a:r>
            <a:r>
              <a:rPr lang="pt-PT" sz="2000" dirty="0">
                <a:latin typeface="Nunito"/>
              </a:rPr>
              <a:t> </a:t>
            </a:r>
            <a:r>
              <a:rPr lang="pt-PT" sz="2000" dirty="0" err="1">
                <a:latin typeface="Nunito"/>
              </a:rPr>
              <a:t>platforms</a:t>
            </a:r>
            <a:endParaRPr lang="pt-PT" sz="2000" dirty="0">
              <a:latin typeface="Nunito"/>
            </a:endParaRPr>
          </a:p>
          <a:p>
            <a:pPr algn="ctr"/>
            <a:r>
              <a:rPr lang="pt-PT" sz="2000" dirty="0">
                <a:latin typeface="Nunito"/>
              </a:rPr>
              <a:t>- RISC-V </a:t>
            </a:r>
            <a:r>
              <a:rPr lang="pt-PT" sz="2000" dirty="0" err="1">
                <a:latin typeface="Nunito"/>
              </a:rPr>
              <a:t>Architecture</a:t>
            </a:r>
            <a:r>
              <a:rPr lang="pt-PT" sz="2000" dirty="0">
                <a:latin typeface="Nunito"/>
              </a:rPr>
              <a:t> 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CustomShap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303B3F"/>
          </a:solidFill>
          <a:ln w="12600">
            <a:solidFill>
              <a:srgbClr val="42719B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9" name="CustomShape 2"/>
          <p:cNvSpPr/>
          <p:nvPr/>
        </p:nvSpPr>
        <p:spPr>
          <a:xfrm>
            <a:off x="0" y="5910840"/>
            <a:ext cx="121917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600">
            <a:solidFill>
              <a:schemeClr val="lt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0" name="CustomShape 3"/>
          <p:cNvSpPr/>
          <p:nvPr/>
        </p:nvSpPr>
        <p:spPr>
          <a:xfrm>
            <a:off x="8966880" y="5029200"/>
            <a:ext cx="3224520" cy="881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5400" b="1" spc="-1" dirty="0">
                <a:solidFill>
                  <a:srgbClr val="FFFFFF"/>
                </a:solidFill>
                <a:latin typeface="Nunito"/>
              </a:rPr>
              <a:t>Goals</a:t>
            </a:r>
            <a:endParaRPr lang="pt-PT" sz="5400" dirty="0"/>
          </a:p>
        </p:txBody>
      </p:sp>
      <p:sp>
        <p:nvSpPr>
          <p:cNvPr id="341" name="CustomShape 4"/>
          <p:cNvSpPr/>
          <p:nvPr/>
        </p:nvSpPr>
        <p:spPr>
          <a:xfrm>
            <a:off x="4896000" y="6003360"/>
            <a:ext cx="7295760" cy="229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 dirty="0">
              <a:solidFill>
                <a:srgbClr val="8498A0"/>
              </a:solidFill>
              <a:latin typeface="Nun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stomShape 1"/>
          <p:cNvSpPr/>
          <p:nvPr/>
        </p:nvSpPr>
        <p:spPr>
          <a:xfrm>
            <a:off x="0" y="241200"/>
            <a:ext cx="12191760" cy="68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b">
            <a:normAutofit fontScale="94500"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-US" sz="3900" b="1" spc="-1">
                <a:solidFill>
                  <a:srgbClr val="1694B2"/>
                </a:solidFill>
                <a:latin typeface="Nunito"/>
              </a:rPr>
              <a:t>Goals</a:t>
            </a:r>
            <a:endParaRPr lang="en-US" sz="3900" b="1" strike="noStrike" spc="-1" dirty="0">
              <a:solidFill>
                <a:srgbClr val="1694B2"/>
              </a:solidFill>
              <a:latin typeface="Nunito"/>
            </a:endParaRPr>
          </a:p>
        </p:txBody>
      </p:sp>
      <p:sp>
        <p:nvSpPr>
          <p:cNvPr id="84" name="CustomShape 2"/>
          <p:cNvSpPr/>
          <p:nvPr/>
        </p:nvSpPr>
        <p:spPr>
          <a:xfrm>
            <a:off x="0" y="6507720"/>
            <a:ext cx="12191760" cy="21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fld id="{DCB731D1-B609-40AC-A566-B30987D09182}" type="slidenum">
              <a:rPr lang="en-US" sz="1200" b="0" strike="noStrike" spc="-1">
                <a:solidFill>
                  <a:srgbClr val="8498A0"/>
                </a:solidFill>
                <a:latin typeface="Nunito"/>
                <a:ea typeface="Nunito"/>
              </a:rPr>
              <a:t>18</a:t>
            </a:fld>
            <a:endParaRPr lang="pt-PT" sz="1200" b="0" strike="noStrike" spc="-1">
              <a:latin typeface="Arial"/>
            </a:endParaRPr>
          </a:p>
        </p:txBody>
      </p:sp>
      <p:sp>
        <p:nvSpPr>
          <p:cNvPr id="85" name="CustomShape 3"/>
          <p:cNvSpPr/>
          <p:nvPr/>
        </p:nvSpPr>
        <p:spPr>
          <a:xfrm>
            <a:off x="52200" y="6392520"/>
            <a:ext cx="1301040" cy="39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303B3F"/>
                </a:solidFill>
                <a:latin typeface="Nunito"/>
                <a:ea typeface="Nunito"/>
              </a:rPr>
              <a:t>ESRG</a:t>
            </a:r>
            <a:r>
              <a:rPr lang="en-US" sz="1600" b="1" strike="noStrike" spc="-1">
                <a:solidFill>
                  <a:srgbClr val="8498A0"/>
                </a:solidFill>
                <a:latin typeface="Nunito"/>
                <a:ea typeface="Nunito"/>
              </a:rPr>
              <a:t>v3</a:t>
            </a:r>
            <a:endParaRPr lang="pt-PT" sz="1600" b="0" strike="noStrike" spc="-1">
              <a:latin typeface="Arial"/>
            </a:endParaRPr>
          </a:p>
        </p:txBody>
      </p:sp>
      <p:sp>
        <p:nvSpPr>
          <p:cNvPr id="86" name="CustomShape 4"/>
          <p:cNvSpPr/>
          <p:nvPr/>
        </p:nvSpPr>
        <p:spPr>
          <a:xfrm>
            <a:off x="0" y="1467360"/>
            <a:ext cx="12191760" cy="3083040"/>
          </a:xfrm>
          <a:prstGeom prst="rect">
            <a:avLst/>
          </a:prstGeom>
          <a:solidFill>
            <a:srgbClr val="8498A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" name="CustomShape 5"/>
          <p:cNvSpPr/>
          <p:nvPr/>
        </p:nvSpPr>
        <p:spPr>
          <a:xfrm>
            <a:off x="-1418" y="1467360"/>
            <a:ext cx="876640" cy="3077962"/>
          </a:xfrm>
          <a:prstGeom prst="rect">
            <a:avLst/>
          </a:prstGeom>
          <a:solidFill>
            <a:srgbClr val="303B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8" name="CustomShape 6"/>
          <p:cNvSpPr/>
          <p:nvPr/>
        </p:nvSpPr>
        <p:spPr>
          <a:xfrm>
            <a:off x="4146840" y="4580640"/>
            <a:ext cx="8044920" cy="162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endParaRPr lang="en-US" sz="2400" b="1" strike="noStrike" spc="-1" dirty="0">
              <a:solidFill>
                <a:srgbClr val="303B3F"/>
              </a:solidFill>
              <a:latin typeface="Nunito"/>
            </a:endParaRPr>
          </a:p>
        </p:txBody>
      </p:sp>
      <p:sp>
        <p:nvSpPr>
          <p:cNvPr id="89" name="CustomShape 7"/>
          <p:cNvSpPr/>
          <p:nvPr/>
        </p:nvSpPr>
        <p:spPr>
          <a:xfrm>
            <a:off x="361440" y="1467360"/>
            <a:ext cx="3784680" cy="47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700" b="1" strike="noStrike" spc="-1" dirty="0">
              <a:solidFill>
                <a:srgbClr val="FFFFFF"/>
              </a:solidFill>
              <a:latin typeface="Nunito"/>
            </a:endParaRPr>
          </a:p>
        </p:txBody>
      </p:sp>
      <p:sp>
        <p:nvSpPr>
          <p:cNvPr id="90" name="CustomShape 8"/>
          <p:cNvSpPr/>
          <p:nvPr/>
        </p:nvSpPr>
        <p:spPr>
          <a:xfrm>
            <a:off x="10591920" y="6392520"/>
            <a:ext cx="159984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000" b="1" strike="noStrike" spc="-1" dirty="0">
              <a:solidFill>
                <a:srgbClr val="303B3F"/>
              </a:solidFill>
              <a:latin typeface="Nunito"/>
            </a:endParaRPr>
          </a:p>
          <a:p>
            <a:pPr>
              <a:tabLst>
                <a:tab pos="0" algn="l"/>
              </a:tabLst>
            </a:pPr>
            <a:endParaRPr lang="en-US" sz="2000" b="1" spc="-1" dirty="0">
              <a:solidFill>
                <a:srgbClr val="303B3F"/>
              </a:solidFill>
              <a:latin typeface="Nunito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156F1AB-8C24-425B-8D8B-4D82EDD1396C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42ED254-379A-4D8D-8B0D-A1F39BFBE90A}"/>
              </a:ext>
            </a:extLst>
          </p:cNvPr>
          <p:cNvSpPr txBox="1"/>
          <p:nvPr/>
        </p:nvSpPr>
        <p:spPr>
          <a:xfrm>
            <a:off x="878114" y="1469053"/>
            <a:ext cx="59052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CBD67FA-AF1E-467A-B456-3E02E7CF5EC4}"/>
              </a:ext>
            </a:extLst>
          </p:cNvPr>
          <p:cNvSpPr txBox="1"/>
          <p:nvPr/>
        </p:nvSpPr>
        <p:spPr>
          <a:xfrm>
            <a:off x="1180081" y="1648888"/>
            <a:ext cx="10022978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PT" sz="2000" dirty="0"/>
          </a:p>
          <a:p>
            <a:pPr marL="285750" indent="-285750">
              <a:buFont typeface="Arial"/>
              <a:buChar char="•"/>
            </a:pPr>
            <a:r>
              <a:rPr lang="pt-PT" sz="2800" err="1">
                <a:latin typeface="Nunito"/>
              </a:rPr>
              <a:t>Create</a:t>
            </a:r>
            <a:r>
              <a:rPr lang="pt-PT" sz="2800">
                <a:latin typeface="Nunito"/>
              </a:rPr>
              <a:t> a </a:t>
            </a:r>
            <a:r>
              <a:rPr lang="pt-PT" sz="2800" err="1">
                <a:latin typeface="Nunito"/>
              </a:rPr>
              <a:t>threat</a:t>
            </a:r>
            <a:r>
              <a:rPr lang="pt-PT" sz="2800" dirty="0">
                <a:latin typeface="Nunito"/>
              </a:rPr>
              <a:t> </a:t>
            </a:r>
            <a:r>
              <a:rPr lang="pt-PT" sz="2800" err="1">
                <a:latin typeface="Nunito"/>
              </a:rPr>
              <a:t>model</a:t>
            </a:r>
            <a:r>
              <a:rPr lang="pt-PT" sz="2800">
                <a:latin typeface="Nunito"/>
              </a:rPr>
              <a:t> for a Blockchain </a:t>
            </a:r>
            <a:r>
              <a:rPr lang="pt-PT" sz="2800" err="1">
                <a:latin typeface="Nunito"/>
              </a:rPr>
              <a:t>solution</a:t>
            </a:r>
            <a:r>
              <a:rPr lang="pt-PT" sz="2800" dirty="0">
                <a:latin typeface="Nunito"/>
              </a:rPr>
              <a:t> </a:t>
            </a:r>
            <a:r>
              <a:rPr lang="pt-PT" sz="2800">
                <a:latin typeface="Nunito"/>
              </a:rPr>
              <a:t>(</a:t>
            </a:r>
            <a:r>
              <a:rPr lang="pt-PT" sz="2800" err="1">
                <a:latin typeface="Nunito"/>
              </a:rPr>
              <a:t>Cartesi</a:t>
            </a:r>
            <a:r>
              <a:rPr lang="pt-PT" sz="2800">
                <a:latin typeface="Nunito"/>
              </a:rPr>
              <a:t>)</a:t>
            </a:r>
          </a:p>
          <a:p>
            <a:pPr marL="285750" indent="-285750">
              <a:buFont typeface="Arial"/>
              <a:buChar char="•"/>
            </a:pPr>
            <a:endParaRPr lang="pt-PT" sz="2800" dirty="0">
              <a:latin typeface="Nunito"/>
            </a:endParaRPr>
          </a:p>
          <a:p>
            <a:endParaRPr lang="pt-PT" sz="2800" dirty="0"/>
          </a:p>
        </p:txBody>
      </p:sp>
    </p:spTree>
    <p:extLst>
      <p:ext uri="{BB962C8B-B14F-4D97-AF65-F5344CB8AC3E}">
        <p14:creationId xmlns:p14="http://schemas.microsoft.com/office/powerpoint/2010/main" val="3536462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stomShape 1"/>
          <p:cNvSpPr/>
          <p:nvPr/>
        </p:nvSpPr>
        <p:spPr>
          <a:xfrm>
            <a:off x="0" y="241200"/>
            <a:ext cx="12191760" cy="68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b">
            <a:normAutofit fontScale="94500"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-US" sz="3900" b="1" spc="-1">
                <a:solidFill>
                  <a:srgbClr val="1694B2"/>
                </a:solidFill>
                <a:latin typeface="Nunito"/>
              </a:rPr>
              <a:t>Goals</a:t>
            </a:r>
            <a:endParaRPr lang="en-US" sz="3900" b="1" strike="noStrike" spc="-1" dirty="0">
              <a:solidFill>
                <a:srgbClr val="1694B2"/>
              </a:solidFill>
              <a:latin typeface="Nunito"/>
            </a:endParaRPr>
          </a:p>
        </p:txBody>
      </p:sp>
      <p:sp>
        <p:nvSpPr>
          <p:cNvPr id="84" name="CustomShape 2"/>
          <p:cNvSpPr/>
          <p:nvPr/>
        </p:nvSpPr>
        <p:spPr>
          <a:xfrm>
            <a:off x="0" y="6507720"/>
            <a:ext cx="12191760" cy="21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fld id="{DCB731D1-B609-40AC-A566-B30987D09182}" type="slidenum">
              <a:rPr lang="en-US" sz="1200" b="0" strike="noStrike" spc="-1">
                <a:solidFill>
                  <a:srgbClr val="8498A0"/>
                </a:solidFill>
                <a:latin typeface="Nunito"/>
                <a:ea typeface="Nunito"/>
              </a:rPr>
              <a:t>19</a:t>
            </a:fld>
            <a:endParaRPr lang="pt-PT" sz="1200" b="0" strike="noStrike" spc="-1">
              <a:latin typeface="Arial"/>
            </a:endParaRPr>
          </a:p>
        </p:txBody>
      </p:sp>
      <p:sp>
        <p:nvSpPr>
          <p:cNvPr id="85" name="CustomShape 3"/>
          <p:cNvSpPr/>
          <p:nvPr/>
        </p:nvSpPr>
        <p:spPr>
          <a:xfrm>
            <a:off x="52200" y="6392520"/>
            <a:ext cx="1301040" cy="39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303B3F"/>
                </a:solidFill>
                <a:latin typeface="Nunito"/>
                <a:ea typeface="Nunito"/>
              </a:rPr>
              <a:t>ESRG</a:t>
            </a:r>
            <a:r>
              <a:rPr lang="en-US" sz="1600" b="1" strike="noStrike" spc="-1">
                <a:solidFill>
                  <a:srgbClr val="8498A0"/>
                </a:solidFill>
                <a:latin typeface="Nunito"/>
                <a:ea typeface="Nunito"/>
              </a:rPr>
              <a:t>v3</a:t>
            </a:r>
            <a:endParaRPr lang="pt-PT" sz="1600" b="0" strike="noStrike" spc="-1">
              <a:latin typeface="Arial"/>
            </a:endParaRPr>
          </a:p>
        </p:txBody>
      </p:sp>
      <p:sp>
        <p:nvSpPr>
          <p:cNvPr id="86" name="CustomShape 4"/>
          <p:cNvSpPr/>
          <p:nvPr/>
        </p:nvSpPr>
        <p:spPr>
          <a:xfrm>
            <a:off x="0" y="1467360"/>
            <a:ext cx="12191760" cy="3083040"/>
          </a:xfrm>
          <a:prstGeom prst="rect">
            <a:avLst/>
          </a:prstGeom>
          <a:solidFill>
            <a:srgbClr val="8498A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" name="CustomShape 5"/>
          <p:cNvSpPr/>
          <p:nvPr/>
        </p:nvSpPr>
        <p:spPr>
          <a:xfrm>
            <a:off x="-1418" y="1467360"/>
            <a:ext cx="876640" cy="3077962"/>
          </a:xfrm>
          <a:prstGeom prst="rect">
            <a:avLst/>
          </a:prstGeom>
          <a:solidFill>
            <a:srgbClr val="303B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8" name="CustomShape 6"/>
          <p:cNvSpPr/>
          <p:nvPr/>
        </p:nvSpPr>
        <p:spPr>
          <a:xfrm>
            <a:off x="4146840" y="4580640"/>
            <a:ext cx="8044920" cy="162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endParaRPr lang="en-US" sz="2400" b="1" strike="noStrike" spc="-1" dirty="0">
              <a:solidFill>
                <a:srgbClr val="303B3F"/>
              </a:solidFill>
              <a:latin typeface="Nunito"/>
            </a:endParaRPr>
          </a:p>
        </p:txBody>
      </p:sp>
      <p:sp>
        <p:nvSpPr>
          <p:cNvPr id="89" name="CustomShape 7"/>
          <p:cNvSpPr/>
          <p:nvPr/>
        </p:nvSpPr>
        <p:spPr>
          <a:xfrm>
            <a:off x="361440" y="1467360"/>
            <a:ext cx="3784680" cy="47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700" b="1" strike="noStrike" spc="-1" dirty="0">
              <a:solidFill>
                <a:srgbClr val="FFFFFF"/>
              </a:solidFill>
              <a:latin typeface="Nunito"/>
            </a:endParaRPr>
          </a:p>
        </p:txBody>
      </p:sp>
      <p:sp>
        <p:nvSpPr>
          <p:cNvPr id="90" name="CustomShape 8"/>
          <p:cNvSpPr/>
          <p:nvPr/>
        </p:nvSpPr>
        <p:spPr>
          <a:xfrm>
            <a:off x="10591920" y="6392520"/>
            <a:ext cx="159984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000" b="1" strike="noStrike" spc="-1" dirty="0">
              <a:solidFill>
                <a:srgbClr val="303B3F"/>
              </a:solidFill>
              <a:latin typeface="Nunito"/>
            </a:endParaRPr>
          </a:p>
          <a:p>
            <a:pPr>
              <a:tabLst>
                <a:tab pos="0" algn="l"/>
              </a:tabLst>
            </a:pPr>
            <a:endParaRPr lang="en-US" sz="2000" b="1" spc="-1" dirty="0">
              <a:solidFill>
                <a:srgbClr val="303B3F"/>
              </a:solidFill>
              <a:latin typeface="Nunito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156F1AB-8C24-425B-8D8B-4D82EDD1396C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42ED254-379A-4D8D-8B0D-A1F39BFBE90A}"/>
              </a:ext>
            </a:extLst>
          </p:cNvPr>
          <p:cNvSpPr txBox="1"/>
          <p:nvPr/>
        </p:nvSpPr>
        <p:spPr>
          <a:xfrm>
            <a:off x="878114" y="1469053"/>
            <a:ext cx="59052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CBD67FA-AF1E-467A-B456-3E02E7CF5EC4}"/>
              </a:ext>
            </a:extLst>
          </p:cNvPr>
          <p:cNvSpPr txBox="1"/>
          <p:nvPr/>
        </p:nvSpPr>
        <p:spPr>
          <a:xfrm>
            <a:off x="1180081" y="1648888"/>
            <a:ext cx="10022978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PT" sz="2000" dirty="0">
              <a:latin typeface="Nunito"/>
            </a:endParaRPr>
          </a:p>
          <a:p>
            <a:pPr marL="285750" indent="-285750">
              <a:buFont typeface="Arial"/>
              <a:buChar char="•"/>
            </a:pPr>
            <a:r>
              <a:rPr lang="pt-PT" sz="2800" err="1">
                <a:latin typeface="Nunito"/>
              </a:rPr>
              <a:t>Create</a:t>
            </a:r>
            <a:r>
              <a:rPr lang="pt-PT" sz="2800">
                <a:latin typeface="Nunito"/>
              </a:rPr>
              <a:t> a </a:t>
            </a:r>
            <a:r>
              <a:rPr lang="pt-PT" sz="2800" err="1">
                <a:latin typeface="Nunito"/>
              </a:rPr>
              <a:t>threat</a:t>
            </a:r>
            <a:r>
              <a:rPr lang="pt-PT" sz="2800" dirty="0">
                <a:latin typeface="Nunito"/>
              </a:rPr>
              <a:t> </a:t>
            </a:r>
            <a:r>
              <a:rPr lang="pt-PT" sz="2800" err="1">
                <a:latin typeface="Nunito"/>
              </a:rPr>
              <a:t>model</a:t>
            </a:r>
            <a:r>
              <a:rPr lang="pt-PT" sz="2800">
                <a:latin typeface="Nunito"/>
              </a:rPr>
              <a:t> for a Blockchain </a:t>
            </a:r>
            <a:r>
              <a:rPr lang="pt-PT" sz="2800" err="1">
                <a:latin typeface="Nunito"/>
              </a:rPr>
              <a:t>solution</a:t>
            </a:r>
            <a:r>
              <a:rPr lang="pt-PT" sz="2800" dirty="0">
                <a:latin typeface="Nunito"/>
              </a:rPr>
              <a:t> </a:t>
            </a:r>
            <a:r>
              <a:rPr lang="pt-PT" sz="2800">
                <a:latin typeface="Nunito"/>
              </a:rPr>
              <a:t>(</a:t>
            </a:r>
            <a:r>
              <a:rPr lang="pt-PT" sz="2800" err="1">
                <a:latin typeface="Nunito"/>
              </a:rPr>
              <a:t>Cartesi</a:t>
            </a:r>
            <a:r>
              <a:rPr lang="pt-PT" sz="2800">
                <a:latin typeface="Nunito"/>
              </a:rPr>
              <a:t>)</a:t>
            </a:r>
          </a:p>
          <a:p>
            <a:pPr marL="285750" indent="-285750">
              <a:buFont typeface="Arial"/>
              <a:buChar char="•"/>
            </a:pPr>
            <a:endParaRPr lang="pt-PT" sz="2800" dirty="0">
              <a:latin typeface="Nunito"/>
            </a:endParaRPr>
          </a:p>
          <a:p>
            <a:pPr marL="285750" indent="-285750">
              <a:buFont typeface="Arial"/>
              <a:buChar char="•"/>
            </a:pPr>
            <a:r>
              <a:rPr lang="pt-PT" sz="2800" err="1">
                <a:latin typeface="Nunito"/>
              </a:rPr>
              <a:t>Threat</a:t>
            </a:r>
            <a:r>
              <a:rPr lang="pt-PT" sz="2800" dirty="0">
                <a:latin typeface="Nunito"/>
              </a:rPr>
              <a:t> </a:t>
            </a:r>
            <a:r>
              <a:rPr lang="pt-PT" sz="2800" err="1">
                <a:latin typeface="Nunito"/>
              </a:rPr>
              <a:t>Analysis</a:t>
            </a:r>
            <a:endParaRPr lang="pt-PT" sz="2800" dirty="0">
              <a:latin typeface="Nunito"/>
            </a:endParaRPr>
          </a:p>
          <a:p>
            <a:pPr marL="285750" indent="-285750">
              <a:buFont typeface="Arial"/>
              <a:buChar char="•"/>
            </a:pPr>
            <a:endParaRPr lang="pt-PT" sz="2800" dirty="0"/>
          </a:p>
          <a:p>
            <a:endParaRPr lang="pt-PT" sz="2800"/>
          </a:p>
        </p:txBody>
      </p:sp>
    </p:spTree>
    <p:extLst>
      <p:ext uri="{BB962C8B-B14F-4D97-AF65-F5344CB8AC3E}">
        <p14:creationId xmlns:p14="http://schemas.microsoft.com/office/powerpoint/2010/main" val="2215531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stomShape 1"/>
          <p:cNvSpPr/>
          <p:nvPr/>
        </p:nvSpPr>
        <p:spPr>
          <a:xfrm>
            <a:off x="0" y="241200"/>
            <a:ext cx="12191760" cy="68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b">
            <a:normAutofit fontScale="94500"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-US" sz="3900" b="1" spc="-1">
                <a:solidFill>
                  <a:srgbClr val="1694B2"/>
                </a:solidFill>
                <a:latin typeface="Nunito"/>
              </a:rPr>
              <a:t>Goals</a:t>
            </a:r>
            <a:endParaRPr lang="en-US" sz="3900" b="1" strike="noStrike" spc="-1" dirty="0">
              <a:solidFill>
                <a:srgbClr val="1694B2"/>
              </a:solidFill>
              <a:latin typeface="Nunito"/>
            </a:endParaRPr>
          </a:p>
        </p:txBody>
      </p:sp>
      <p:sp>
        <p:nvSpPr>
          <p:cNvPr id="84" name="CustomShape 2"/>
          <p:cNvSpPr/>
          <p:nvPr/>
        </p:nvSpPr>
        <p:spPr>
          <a:xfrm>
            <a:off x="0" y="6507720"/>
            <a:ext cx="12191760" cy="21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fld id="{DCB731D1-B609-40AC-A566-B30987D09182}" type="slidenum">
              <a:rPr lang="en-US" sz="1200" b="0" strike="noStrike" spc="-1">
                <a:solidFill>
                  <a:srgbClr val="8498A0"/>
                </a:solidFill>
                <a:latin typeface="Nunito"/>
                <a:ea typeface="Nunito"/>
              </a:rPr>
              <a:t>20</a:t>
            </a:fld>
            <a:endParaRPr lang="pt-PT" sz="1200" b="0" strike="noStrike" spc="-1">
              <a:latin typeface="Arial"/>
            </a:endParaRPr>
          </a:p>
        </p:txBody>
      </p:sp>
      <p:sp>
        <p:nvSpPr>
          <p:cNvPr id="85" name="CustomShape 3"/>
          <p:cNvSpPr/>
          <p:nvPr/>
        </p:nvSpPr>
        <p:spPr>
          <a:xfrm>
            <a:off x="52200" y="6392520"/>
            <a:ext cx="1301040" cy="39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303B3F"/>
                </a:solidFill>
                <a:latin typeface="Nunito"/>
                <a:ea typeface="Nunito"/>
              </a:rPr>
              <a:t>ESRG</a:t>
            </a:r>
            <a:r>
              <a:rPr lang="en-US" sz="1600" b="1" strike="noStrike" spc="-1">
                <a:solidFill>
                  <a:srgbClr val="8498A0"/>
                </a:solidFill>
                <a:latin typeface="Nunito"/>
                <a:ea typeface="Nunito"/>
              </a:rPr>
              <a:t>v3</a:t>
            </a:r>
            <a:endParaRPr lang="pt-PT" sz="1600" b="0" strike="noStrike" spc="-1">
              <a:latin typeface="Arial"/>
            </a:endParaRPr>
          </a:p>
        </p:txBody>
      </p:sp>
      <p:sp>
        <p:nvSpPr>
          <p:cNvPr id="86" name="CustomShape 4"/>
          <p:cNvSpPr/>
          <p:nvPr/>
        </p:nvSpPr>
        <p:spPr>
          <a:xfrm>
            <a:off x="0" y="1467360"/>
            <a:ext cx="12191760" cy="3083040"/>
          </a:xfrm>
          <a:prstGeom prst="rect">
            <a:avLst/>
          </a:prstGeom>
          <a:solidFill>
            <a:srgbClr val="8498A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" name="CustomShape 5"/>
          <p:cNvSpPr/>
          <p:nvPr/>
        </p:nvSpPr>
        <p:spPr>
          <a:xfrm>
            <a:off x="-1418" y="1467360"/>
            <a:ext cx="876640" cy="3077962"/>
          </a:xfrm>
          <a:prstGeom prst="rect">
            <a:avLst/>
          </a:prstGeom>
          <a:solidFill>
            <a:srgbClr val="303B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8" name="CustomShape 6"/>
          <p:cNvSpPr/>
          <p:nvPr/>
        </p:nvSpPr>
        <p:spPr>
          <a:xfrm>
            <a:off x="4146840" y="4580640"/>
            <a:ext cx="8044920" cy="162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endParaRPr lang="en-US" sz="2400" b="1" strike="noStrike" spc="-1" dirty="0">
              <a:solidFill>
                <a:srgbClr val="303B3F"/>
              </a:solidFill>
              <a:latin typeface="Nunito"/>
            </a:endParaRPr>
          </a:p>
        </p:txBody>
      </p:sp>
      <p:sp>
        <p:nvSpPr>
          <p:cNvPr id="89" name="CustomShape 7"/>
          <p:cNvSpPr/>
          <p:nvPr/>
        </p:nvSpPr>
        <p:spPr>
          <a:xfrm>
            <a:off x="361440" y="1467360"/>
            <a:ext cx="3784680" cy="47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700" b="1" strike="noStrike" spc="-1" dirty="0">
              <a:solidFill>
                <a:srgbClr val="FFFFFF"/>
              </a:solidFill>
              <a:latin typeface="Nunito"/>
            </a:endParaRPr>
          </a:p>
        </p:txBody>
      </p:sp>
      <p:sp>
        <p:nvSpPr>
          <p:cNvPr id="90" name="CustomShape 8"/>
          <p:cNvSpPr/>
          <p:nvPr/>
        </p:nvSpPr>
        <p:spPr>
          <a:xfrm>
            <a:off x="10591920" y="6392520"/>
            <a:ext cx="159984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000" b="1" strike="noStrike" spc="-1" dirty="0">
              <a:solidFill>
                <a:srgbClr val="303B3F"/>
              </a:solidFill>
              <a:latin typeface="Nunito"/>
            </a:endParaRPr>
          </a:p>
          <a:p>
            <a:pPr>
              <a:tabLst>
                <a:tab pos="0" algn="l"/>
              </a:tabLst>
            </a:pPr>
            <a:endParaRPr lang="en-US" sz="2000" b="1" spc="-1" dirty="0">
              <a:solidFill>
                <a:srgbClr val="303B3F"/>
              </a:solidFill>
              <a:latin typeface="Nunito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156F1AB-8C24-425B-8D8B-4D82EDD1396C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42ED254-379A-4D8D-8B0D-A1F39BFBE90A}"/>
              </a:ext>
            </a:extLst>
          </p:cNvPr>
          <p:cNvSpPr txBox="1"/>
          <p:nvPr/>
        </p:nvSpPr>
        <p:spPr>
          <a:xfrm>
            <a:off x="878114" y="1469053"/>
            <a:ext cx="59052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CBD67FA-AF1E-467A-B456-3E02E7CF5EC4}"/>
              </a:ext>
            </a:extLst>
          </p:cNvPr>
          <p:cNvSpPr txBox="1"/>
          <p:nvPr/>
        </p:nvSpPr>
        <p:spPr>
          <a:xfrm>
            <a:off x="1180081" y="1648888"/>
            <a:ext cx="10022978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PT" sz="2000" dirty="0"/>
          </a:p>
          <a:p>
            <a:pPr marL="285750" indent="-285750">
              <a:buFont typeface="Arial"/>
              <a:buChar char="•"/>
            </a:pPr>
            <a:r>
              <a:rPr lang="pt-PT" sz="2800" err="1">
                <a:latin typeface="Nunito"/>
              </a:rPr>
              <a:t>Create</a:t>
            </a:r>
            <a:r>
              <a:rPr lang="pt-PT" sz="2800">
                <a:latin typeface="Nunito"/>
              </a:rPr>
              <a:t> a </a:t>
            </a:r>
            <a:r>
              <a:rPr lang="pt-PT" sz="2800" err="1">
                <a:latin typeface="Nunito"/>
              </a:rPr>
              <a:t>threat</a:t>
            </a:r>
            <a:r>
              <a:rPr lang="pt-PT" sz="2800" dirty="0">
                <a:latin typeface="Nunito"/>
              </a:rPr>
              <a:t> </a:t>
            </a:r>
            <a:r>
              <a:rPr lang="pt-PT" sz="2800" err="1">
                <a:latin typeface="Nunito"/>
              </a:rPr>
              <a:t>model</a:t>
            </a:r>
            <a:r>
              <a:rPr lang="pt-PT" sz="2800">
                <a:latin typeface="Nunito"/>
              </a:rPr>
              <a:t> for a Blockchain </a:t>
            </a:r>
            <a:r>
              <a:rPr lang="pt-PT" sz="2800" err="1">
                <a:latin typeface="Nunito"/>
              </a:rPr>
              <a:t>solution</a:t>
            </a:r>
            <a:r>
              <a:rPr lang="pt-PT" sz="2800" dirty="0">
                <a:latin typeface="Nunito"/>
              </a:rPr>
              <a:t> </a:t>
            </a:r>
            <a:r>
              <a:rPr lang="pt-PT" sz="2800">
                <a:latin typeface="Nunito"/>
              </a:rPr>
              <a:t>(</a:t>
            </a:r>
            <a:r>
              <a:rPr lang="pt-PT" sz="2800" err="1">
                <a:latin typeface="Nunito"/>
              </a:rPr>
              <a:t>Cartesi</a:t>
            </a:r>
            <a:r>
              <a:rPr lang="pt-PT" sz="2800">
                <a:latin typeface="Nunito"/>
              </a:rPr>
              <a:t>)</a:t>
            </a:r>
          </a:p>
          <a:p>
            <a:pPr marL="285750" indent="-285750">
              <a:buFont typeface="Arial"/>
              <a:buChar char="•"/>
            </a:pPr>
            <a:endParaRPr lang="pt-PT" sz="2800" dirty="0">
              <a:latin typeface="Nunito"/>
            </a:endParaRPr>
          </a:p>
          <a:p>
            <a:pPr marL="285750" indent="-285750">
              <a:buFont typeface="Arial"/>
              <a:buChar char="•"/>
            </a:pPr>
            <a:r>
              <a:rPr lang="pt-PT" sz="2800" err="1">
                <a:latin typeface="Nunito"/>
              </a:rPr>
              <a:t>Threat</a:t>
            </a:r>
            <a:r>
              <a:rPr lang="pt-PT" sz="2800" dirty="0">
                <a:latin typeface="Nunito"/>
              </a:rPr>
              <a:t> </a:t>
            </a:r>
            <a:r>
              <a:rPr lang="pt-PT" sz="2800" err="1">
                <a:latin typeface="Nunito"/>
              </a:rPr>
              <a:t>Analysis</a:t>
            </a:r>
            <a:endParaRPr lang="pt-PT" sz="2800">
              <a:latin typeface="Nunito"/>
            </a:endParaRPr>
          </a:p>
          <a:p>
            <a:pPr marL="285750" indent="-285750">
              <a:buFont typeface="Arial"/>
              <a:buChar char="•"/>
            </a:pPr>
            <a:endParaRPr lang="pt-PT" sz="2800" dirty="0">
              <a:latin typeface="Nunito"/>
            </a:endParaRPr>
          </a:p>
          <a:p>
            <a:pPr marL="285750" indent="-285750">
              <a:buFont typeface="Arial"/>
              <a:buChar char="•"/>
            </a:pPr>
            <a:r>
              <a:rPr lang="pt-PT" sz="2800" err="1">
                <a:latin typeface="Nunito"/>
              </a:rPr>
              <a:t>Threat</a:t>
            </a:r>
            <a:r>
              <a:rPr lang="pt-PT" sz="2800" dirty="0">
                <a:latin typeface="Nunito"/>
              </a:rPr>
              <a:t> </a:t>
            </a:r>
            <a:r>
              <a:rPr lang="pt-PT" sz="2800" err="1">
                <a:latin typeface="Nunito"/>
              </a:rPr>
              <a:t>mitigation</a:t>
            </a:r>
            <a:r>
              <a:rPr lang="pt-PT" sz="2800" dirty="0">
                <a:latin typeface="Nunito"/>
              </a:rPr>
              <a:t> </a:t>
            </a:r>
            <a:r>
              <a:rPr lang="pt-PT" sz="2800" err="1">
                <a:latin typeface="Nunito"/>
              </a:rPr>
              <a:t>using</a:t>
            </a:r>
            <a:r>
              <a:rPr lang="pt-PT" sz="2800" dirty="0">
                <a:latin typeface="Nunito"/>
              </a:rPr>
              <a:t> </a:t>
            </a:r>
            <a:r>
              <a:rPr lang="pt-PT" sz="2800">
                <a:latin typeface="Nunito"/>
              </a:rPr>
              <a:t>TEEs</a:t>
            </a:r>
          </a:p>
        </p:txBody>
      </p:sp>
    </p:spTree>
    <p:extLst>
      <p:ext uri="{BB962C8B-B14F-4D97-AF65-F5344CB8AC3E}">
        <p14:creationId xmlns:p14="http://schemas.microsoft.com/office/powerpoint/2010/main" val="26388980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CustomShap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303B3F"/>
          </a:solidFill>
          <a:ln w="12600">
            <a:solidFill>
              <a:srgbClr val="42719B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9" name="CustomShape 2"/>
          <p:cNvSpPr/>
          <p:nvPr/>
        </p:nvSpPr>
        <p:spPr>
          <a:xfrm>
            <a:off x="0" y="5910840"/>
            <a:ext cx="121917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600">
            <a:solidFill>
              <a:schemeClr val="lt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0" name="CustomShape 3"/>
          <p:cNvSpPr/>
          <p:nvPr/>
        </p:nvSpPr>
        <p:spPr>
          <a:xfrm>
            <a:off x="1303775" y="5029200"/>
            <a:ext cx="10887625" cy="881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b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pt-PT" sz="5400" b="1" spc="-1" dirty="0" err="1">
                <a:solidFill>
                  <a:schemeClr val="bg1"/>
                </a:solidFill>
                <a:latin typeface="nunito"/>
                <a:ea typeface="+mn-lt"/>
                <a:cs typeface="+mn-lt"/>
              </a:rPr>
              <a:t>Technical</a:t>
            </a:r>
            <a:r>
              <a:rPr lang="pt-PT" sz="5400" b="1" spc="-1" dirty="0">
                <a:solidFill>
                  <a:schemeClr val="bg1"/>
                </a:solidFill>
                <a:latin typeface="nunito"/>
                <a:ea typeface="+mn-lt"/>
                <a:cs typeface="+mn-lt"/>
              </a:rPr>
              <a:t> &amp; </a:t>
            </a:r>
            <a:r>
              <a:rPr lang="pt-PT" sz="5400" b="1" spc="-1" dirty="0" err="1">
                <a:solidFill>
                  <a:schemeClr val="bg1"/>
                </a:solidFill>
                <a:latin typeface="nunito"/>
                <a:ea typeface="+mn-lt"/>
                <a:cs typeface="+mn-lt"/>
              </a:rPr>
              <a:t>Scientific</a:t>
            </a:r>
            <a:r>
              <a:rPr lang="pt-PT" sz="5400" b="1" spc="-1" dirty="0">
                <a:solidFill>
                  <a:schemeClr val="bg1"/>
                </a:solidFill>
                <a:latin typeface="nunito"/>
                <a:ea typeface="+mn-lt"/>
                <a:cs typeface="+mn-lt"/>
              </a:rPr>
              <a:t> </a:t>
            </a:r>
            <a:r>
              <a:rPr lang="pt-PT" sz="5400" b="1" spc="-1" dirty="0" err="1">
                <a:solidFill>
                  <a:schemeClr val="bg1"/>
                </a:solidFill>
                <a:latin typeface="nunito"/>
                <a:ea typeface="+mn-lt"/>
                <a:cs typeface="+mn-lt"/>
              </a:rPr>
              <a:t>Relevance</a:t>
            </a:r>
            <a:endParaRPr lang="en-US" sz="5400" b="1" spc="-1">
              <a:solidFill>
                <a:schemeClr val="bg1"/>
              </a:solidFill>
              <a:latin typeface="nunito"/>
              <a:ea typeface="+mn-lt"/>
              <a:cs typeface="+mn-lt"/>
            </a:endParaRPr>
          </a:p>
        </p:txBody>
      </p:sp>
      <p:sp>
        <p:nvSpPr>
          <p:cNvPr id="341" name="CustomShape 4"/>
          <p:cNvSpPr/>
          <p:nvPr/>
        </p:nvSpPr>
        <p:spPr>
          <a:xfrm>
            <a:off x="4896000" y="6003360"/>
            <a:ext cx="7295760" cy="229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 dirty="0">
              <a:solidFill>
                <a:srgbClr val="8498A0"/>
              </a:solidFill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4094863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stomShape 1"/>
          <p:cNvSpPr/>
          <p:nvPr/>
        </p:nvSpPr>
        <p:spPr>
          <a:xfrm>
            <a:off x="0" y="241200"/>
            <a:ext cx="12191760" cy="68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-US" sz="4400" b="1" spc="-1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Technical &amp; Scientific Relevance</a:t>
            </a:r>
            <a:endParaRPr lang="pt-PT" sz="4700" b="1" strike="noStrike" spc="-1" dirty="0">
              <a:ea typeface="+mn-lt"/>
              <a:cs typeface="+mn-lt"/>
            </a:endParaRPr>
          </a:p>
        </p:txBody>
      </p:sp>
      <p:sp>
        <p:nvSpPr>
          <p:cNvPr id="84" name="CustomShape 2"/>
          <p:cNvSpPr/>
          <p:nvPr/>
        </p:nvSpPr>
        <p:spPr>
          <a:xfrm>
            <a:off x="0" y="6507720"/>
            <a:ext cx="12191760" cy="21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fld id="{DCB731D1-B609-40AC-A566-B30987D09182}" type="slidenum">
              <a:rPr lang="en-US" sz="1200" b="0" strike="noStrike" spc="-1">
                <a:solidFill>
                  <a:srgbClr val="8498A0"/>
                </a:solidFill>
                <a:latin typeface="Nunito"/>
                <a:ea typeface="Nunito"/>
              </a:rPr>
              <a:t>22</a:t>
            </a:fld>
            <a:endParaRPr lang="pt-PT" sz="1200" b="0" strike="noStrike" spc="-1">
              <a:latin typeface="Arial"/>
            </a:endParaRPr>
          </a:p>
        </p:txBody>
      </p:sp>
      <p:sp>
        <p:nvSpPr>
          <p:cNvPr id="85" name="CustomShape 3"/>
          <p:cNvSpPr/>
          <p:nvPr/>
        </p:nvSpPr>
        <p:spPr>
          <a:xfrm>
            <a:off x="52200" y="6392520"/>
            <a:ext cx="1301040" cy="39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303B3F"/>
                </a:solidFill>
                <a:latin typeface="Nunito"/>
                <a:ea typeface="Nunito"/>
              </a:rPr>
              <a:t>ESRG</a:t>
            </a:r>
            <a:r>
              <a:rPr lang="en-US" sz="1600" b="1" strike="noStrike" spc="-1">
                <a:solidFill>
                  <a:srgbClr val="8498A0"/>
                </a:solidFill>
                <a:latin typeface="Nunito"/>
                <a:ea typeface="Nunito"/>
              </a:rPr>
              <a:t>v3</a:t>
            </a:r>
            <a:endParaRPr lang="pt-PT" sz="1600" b="0" strike="noStrike" spc="-1">
              <a:latin typeface="Arial"/>
            </a:endParaRPr>
          </a:p>
        </p:txBody>
      </p:sp>
      <p:sp>
        <p:nvSpPr>
          <p:cNvPr id="86" name="CustomShape 4"/>
          <p:cNvSpPr/>
          <p:nvPr/>
        </p:nvSpPr>
        <p:spPr>
          <a:xfrm>
            <a:off x="0" y="1467360"/>
            <a:ext cx="12191760" cy="3083040"/>
          </a:xfrm>
          <a:prstGeom prst="rect">
            <a:avLst/>
          </a:prstGeom>
          <a:solidFill>
            <a:srgbClr val="8498A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8" name="CustomShape 6"/>
          <p:cNvSpPr/>
          <p:nvPr/>
        </p:nvSpPr>
        <p:spPr>
          <a:xfrm>
            <a:off x="4146840" y="4580640"/>
            <a:ext cx="8044920" cy="162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endParaRPr lang="en-US" sz="2400" b="1" strike="noStrike" spc="-1" dirty="0">
              <a:solidFill>
                <a:srgbClr val="303B3F"/>
              </a:solidFill>
              <a:latin typeface="Nunito"/>
            </a:endParaRPr>
          </a:p>
        </p:txBody>
      </p:sp>
      <p:sp>
        <p:nvSpPr>
          <p:cNvPr id="89" name="CustomShape 7"/>
          <p:cNvSpPr/>
          <p:nvPr/>
        </p:nvSpPr>
        <p:spPr>
          <a:xfrm>
            <a:off x="361440" y="1467360"/>
            <a:ext cx="3784680" cy="47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700" b="1" strike="noStrike" spc="-1" dirty="0">
              <a:solidFill>
                <a:srgbClr val="FFFFFF"/>
              </a:solidFill>
              <a:latin typeface="Nunito"/>
            </a:endParaRPr>
          </a:p>
        </p:txBody>
      </p:sp>
      <p:sp>
        <p:nvSpPr>
          <p:cNvPr id="90" name="CustomShape 8"/>
          <p:cNvSpPr/>
          <p:nvPr/>
        </p:nvSpPr>
        <p:spPr>
          <a:xfrm>
            <a:off x="10591920" y="6392520"/>
            <a:ext cx="159984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000" b="1" strike="noStrike" spc="-1" dirty="0">
              <a:solidFill>
                <a:srgbClr val="303B3F"/>
              </a:solidFill>
              <a:latin typeface="Nunito"/>
            </a:endParaRPr>
          </a:p>
          <a:p>
            <a:pPr>
              <a:tabLst>
                <a:tab pos="0" algn="l"/>
              </a:tabLst>
            </a:pPr>
            <a:endParaRPr lang="en-US" sz="2000" b="1" spc="-1" dirty="0">
              <a:solidFill>
                <a:srgbClr val="303B3F"/>
              </a:solidFill>
              <a:latin typeface="Nunito"/>
            </a:endParaRPr>
          </a:p>
        </p:txBody>
      </p:sp>
      <p:sp>
        <p:nvSpPr>
          <p:cNvPr id="3" name="CustomShape 5">
            <a:extLst>
              <a:ext uri="{FF2B5EF4-FFF2-40B4-BE49-F238E27FC236}">
                <a16:creationId xmlns:a16="http://schemas.microsoft.com/office/drawing/2014/main" id="{DF9BF599-6B5A-4B91-91CE-1B3E23FD3BC7}"/>
              </a:ext>
            </a:extLst>
          </p:cNvPr>
          <p:cNvSpPr/>
          <p:nvPr/>
        </p:nvSpPr>
        <p:spPr>
          <a:xfrm>
            <a:off x="-1418" y="1467360"/>
            <a:ext cx="876640" cy="3077962"/>
          </a:xfrm>
          <a:prstGeom prst="rect">
            <a:avLst/>
          </a:prstGeom>
          <a:solidFill>
            <a:srgbClr val="303B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0613877-626B-4915-9766-13D7C6FF4B4B}"/>
              </a:ext>
            </a:extLst>
          </p:cNvPr>
          <p:cNvSpPr txBox="1"/>
          <p:nvPr/>
        </p:nvSpPr>
        <p:spPr>
          <a:xfrm>
            <a:off x="2100083" y="1466011"/>
            <a:ext cx="7992045" cy="70788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Blockchain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is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a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recent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and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disruptive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 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technology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, 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gaining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a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lot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of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adoption</a:t>
            </a:r>
            <a:endParaRPr lang="pt-PT" sz="2000" dirty="0" err="1">
              <a:solidFill>
                <a:srgbClr val="000000"/>
              </a:solidFill>
              <a:latin typeface="Nunito"/>
              <a:ea typeface="+mn-lt"/>
              <a:cs typeface="+mn-lt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3137960-82F9-4559-AFB4-CB18146F53A2}"/>
              </a:ext>
            </a:extLst>
          </p:cNvPr>
          <p:cNvSpPr txBox="1"/>
          <p:nvPr/>
        </p:nvSpPr>
        <p:spPr>
          <a:xfrm>
            <a:off x="4961603" y="2268452"/>
            <a:ext cx="2268583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 rtl="0">
              <a:buFont typeface="Arial"/>
              <a:buChar char="•"/>
            </a:pPr>
            <a:r>
              <a:rPr lang="pt-PT" sz="2000" err="1">
                <a:latin typeface="Nunito"/>
                <a:ea typeface="Arial"/>
                <a:cs typeface="Arial"/>
              </a:rPr>
              <a:t>Immutability</a:t>
            </a:r>
            <a:r>
              <a:rPr lang="pt-PT" sz="2000" dirty="0">
                <a:latin typeface="Nunito"/>
                <a:ea typeface="Arial"/>
                <a:cs typeface="Arial"/>
              </a:rPr>
              <a:t>​</a:t>
            </a:r>
            <a:endParaRPr lang="pt-PT" sz="2000"/>
          </a:p>
          <a:p>
            <a:pPr marL="285750" indent="-285750">
              <a:buFont typeface="Arial"/>
              <a:buChar char="•"/>
            </a:pPr>
            <a:r>
              <a:rPr lang="pt-PT" sz="2000" err="1">
                <a:latin typeface="Nunito"/>
                <a:ea typeface="Arial"/>
                <a:cs typeface="Arial"/>
              </a:rPr>
              <a:t>Transparency</a:t>
            </a:r>
            <a:r>
              <a:rPr lang="pt-PT" sz="2000" dirty="0">
                <a:latin typeface="Nunito"/>
                <a:ea typeface="Arial"/>
                <a:cs typeface="Arial"/>
              </a:rPr>
              <a:t>​</a:t>
            </a:r>
            <a:endParaRPr lang="pt-PT" sz="2000">
              <a:latin typeface="Arial"/>
              <a:ea typeface="Arial"/>
              <a:cs typeface="Arial"/>
            </a:endParaRPr>
          </a:p>
          <a:p>
            <a:pPr marL="285750" lvl="0" indent="-285750">
              <a:buFont typeface="Arial"/>
              <a:buChar char="•"/>
            </a:pPr>
            <a:r>
              <a:rPr lang="pt-PT" sz="2000" err="1">
                <a:latin typeface="Nunito"/>
                <a:ea typeface="Arial"/>
                <a:cs typeface="Arial"/>
              </a:rPr>
              <a:t>Security</a:t>
            </a:r>
            <a:endParaRPr lang="pt-PT" sz="2000" err="1"/>
          </a:p>
        </p:txBody>
      </p:sp>
      <p:sp>
        <p:nvSpPr>
          <p:cNvPr id="12" name="CustomShape 5">
            <a:extLst>
              <a:ext uri="{FF2B5EF4-FFF2-40B4-BE49-F238E27FC236}">
                <a16:creationId xmlns:a16="http://schemas.microsoft.com/office/drawing/2014/main" id="{AD2A64D2-34A9-4085-AD68-D86243AE38DD}"/>
              </a:ext>
            </a:extLst>
          </p:cNvPr>
          <p:cNvSpPr/>
          <p:nvPr/>
        </p:nvSpPr>
        <p:spPr>
          <a:xfrm>
            <a:off x="11313995" y="1467360"/>
            <a:ext cx="876640" cy="3077962"/>
          </a:xfrm>
          <a:prstGeom prst="rect">
            <a:avLst/>
          </a:prstGeom>
          <a:solidFill>
            <a:srgbClr val="303B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2807159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stomShape 1"/>
          <p:cNvSpPr/>
          <p:nvPr/>
        </p:nvSpPr>
        <p:spPr>
          <a:xfrm>
            <a:off x="0" y="241200"/>
            <a:ext cx="12191760" cy="68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-US" sz="4400" b="1" spc="-1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Technical &amp; Scientific Relevance</a:t>
            </a:r>
            <a:endParaRPr lang="pt-PT" sz="4200" b="1" strike="noStrike" spc="-1" dirty="0">
              <a:ea typeface="+mn-lt"/>
              <a:cs typeface="+mn-lt"/>
            </a:endParaRPr>
          </a:p>
        </p:txBody>
      </p:sp>
      <p:sp>
        <p:nvSpPr>
          <p:cNvPr id="84" name="CustomShape 2"/>
          <p:cNvSpPr/>
          <p:nvPr/>
        </p:nvSpPr>
        <p:spPr>
          <a:xfrm>
            <a:off x="0" y="6507720"/>
            <a:ext cx="12191760" cy="21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fld id="{DCB731D1-B609-40AC-A566-B30987D09182}" type="slidenum">
              <a:rPr lang="en-US" sz="1200" b="0" strike="noStrike" spc="-1">
                <a:solidFill>
                  <a:srgbClr val="8498A0"/>
                </a:solidFill>
                <a:latin typeface="Nunito"/>
                <a:ea typeface="Nunito"/>
              </a:rPr>
              <a:t>23</a:t>
            </a:fld>
            <a:endParaRPr lang="pt-PT" sz="1200" b="0" strike="noStrike" spc="-1">
              <a:latin typeface="Arial"/>
            </a:endParaRPr>
          </a:p>
        </p:txBody>
      </p:sp>
      <p:sp>
        <p:nvSpPr>
          <p:cNvPr id="85" name="CustomShape 3"/>
          <p:cNvSpPr/>
          <p:nvPr/>
        </p:nvSpPr>
        <p:spPr>
          <a:xfrm>
            <a:off x="52200" y="6392520"/>
            <a:ext cx="1301040" cy="39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303B3F"/>
                </a:solidFill>
                <a:latin typeface="Nunito"/>
                <a:ea typeface="Nunito"/>
              </a:rPr>
              <a:t>ESRG</a:t>
            </a:r>
            <a:r>
              <a:rPr lang="en-US" sz="1600" b="1" strike="noStrike" spc="-1">
                <a:solidFill>
                  <a:srgbClr val="8498A0"/>
                </a:solidFill>
                <a:latin typeface="Nunito"/>
                <a:ea typeface="Nunito"/>
              </a:rPr>
              <a:t>v3</a:t>
            </a:r>
            <a:endParaRPr lang="pt-PT" sz="1600" b="0" strike="noStrike" spc="-1">
              <a:latin typeface="Arial"/>
            </a:endParaRPr>
          </a:p>
        </p:txBody>
      </p:sp>
      <p:sp>
        <p:nvSpPr>
          <p:cNvPr id="86" name="CustomShape 4"/>
          <p:cNvSpPr/>
          <p:nvPr/>
        </p:nvSpPr>
        <p:spPr>
          <a:xfrm>
            <a:off x="0" y="1467360"/>
            <a:ext cx="12191760" cy="3083040"/>
          </a:xfrm>
          <a:prstGeom prst="rect">
            <a:avLst/>
          </a:prstGeom>
          <a:solidFill>
            <a:srgbClr val="8498A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8" name="CustomShape 6"/>
          <p:cNvSpPr/>
          <p:nvPr/>
        </p:nvSpPr>
        <p:spPr>
          <a:xfrm>
            <a:off x="4146840" y="4580640"/>
            <a:ext cx="8044920" cy="162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endParaRPr lang="en-US" sz="2400" b="1" strike="noStrike" spc="-1" dirty="0">
              <a:solidFill>
                <a:srgbClr val="303B3F"/>
              </a:solidFill>
              <a:latin typeface="Nunito"/>
            </a:endParaRPr>
          </a:p>
        </p:txBody>
      </p:sp>
      <p:sp>
        <p:nvSpPr>
          <p:cNvPr id="89" name="CustomShape 7"/>
          <p:cNvSpPr/>
          <p:nvPr/>
        </p:nvSpPr>
        <p:spPr>
          <a:xfrm>
            <a:off x="361440" y="1467360"/>
            <a:ext cx="3784680" cy="47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700" b="1" strike="noStrike" spc="-1" dirty="0">
              <a:solidFill>
                <a:srgbClr val="FFFFFF"/>
              </a:solidFill>
              <a:latin typeface="Nunito"/>
            </a:endParaRPr>
          </a:p>
        </p:txBody>
      </p:sp>
      <p:sp>
        <p:nvSpPr>
          <p:cNvPr id="90" name="CustomShape 8"/>
          <p:cNvSpPr/>
          <p:nvPr/>
        </p:nvSpPr>
        <p:spPr>
          <a:xfrm>
            <a:off x="10591920" y="6392520"/>
            <a:ext cx="159984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000" b="1" strike="noStrike" spc="-1" dirty="0">
              <a:solidFill>
                <a:srgbClr val="303B3F"/>
              </a:solidFill>
              <a:latin typeface="Nunito"/>
            </a:endParaRPr>
          </a:p>
          <a:p>
            <a:pPr>
              <a:tabLst>
                <a:tab pos="0" algn="l"/>
              </a:tabLst>
            </a:pPr>
            <a:endParaRPr lang="en-US" sz="2000" b="1" spc="-1" dirty="0">
              <a:solidFill>
                <a:srgbClr val="303B3F"/>
              </a:solidFill>
              <a:latin typeface="Nunito"/>
            </a:endParaRPr>
          </a:p>
        </p:txBody>
      </p:sp>
      <p:sp>
        <p:nvSpPr>
          <p:cNvPr id="3" name="CustomShape 5">
            <a:extLst>
              <a:ext uri="{FF2B5EF4-FFF2-40B4-BE49-F238E27FC236}">
                <a16:creationId xmlns:a16="http://schemas.microsoft.com/office/drawing/2014/main" id="{DF9BF599-6B5A-4B91-91CE-1B3E23FD3BC7}"/>
              </a:ext>
            </a:extLst>
          </p:cNvPr>
          <p:cNvSpPr/>
          <p:nvPr/>
        </p:nvSpPr>
        <p:spPr>
          <a:xfrm>
            <a:off x="-1418" y="1467360"/>
            <a:ext cx="876640" cy="3077962"/>
          </a:xfrm>
          <a:prstGeom prst="rect">
            <a:avLst/>
          </a:prstGeom>
          <a:solidFill>
            <a:srgbClr val="303B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E2CAD25-1E3C-40AD-B054-2F7B5AC15964}"/>
              </a:ext>
            </a:extLst>
          </p:cNvPr>
          <p:cNvSpPr txBox="1"/>
          <p:nvPr/>
        </p:nvSpPr>
        <p:spPr>
          <a:xfrm>
            <a:off x="3238246" y="3680362"/>
            <a:ext cx="5708630" cy="70788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000" dirty="0" err="1">
                <a:latin typeface="Nunito"/>
                <a:ea typeface="+mn-lt"/>
                <a:cs typeface="+mn-lt"/>
              </a:rPr>
              <a:t>Although</a:t>
            </a:r>
            <a:r>
              <a:rPr lang="pt-PT" sz="2000" dirty="0">
                <a:latin typeface="Nunito"/>
                <a:ea typeface="+mn-lt"/>
                <a:cs typeface="+mn-lt"/>
              </a:rPr>
              <a:t> </a:t>
            </a:r>
            <a:r>
              <a:rPr lang="pt-PT" sz="2000" dirty="0" err="1">
                <a:latin typeface="Nunito"/>
                <a:ea typeface="+mn-lt"/>
                <a:cs typeface="+mn-lt"/>
              </a:rPr>
              <a:t>it</a:t>
            </a:r>
            <a:r>
              <a:rPr lang="pt-PT" sz="2000" dirty="0">
                <a:latin typeface="Nunito"/>
                <a:ea typeface="+mn-lt"/>
                <a:cs typeface="+mn-lt"/>
              </a:rPr>
              <a:t> </a:t>
            </a:r>
            <a:r>
              <a:rPr lang="pt-PT" sz="2000" dirty="0" err="1">
                <a:latin typeface="Nunito"/>
                <a:ea typeface="+mn-lt"/>
                <a:cs typeface="+mn-lt"/>
              </a:rPr>
              <a:t>is</a:t>
            </a:r>
            <a:r>
              <a:rPr lang="pt-PT" sz="2000" dirty="0">
                <a:latin typeface="Nunito"/>
                <a:ea typeface="+mn-lt"/>
                <a:cs typeface="+mn-lt"/>
              </a:rPr>
              <a:t> secure, </a:t>
            </a:r>
            <a:r>
              <a:rPr lang="pt-PT" sz="2000" dirty="0" err="1">
                <a:latin typeface="Nunito"/>
                <a:ea typeface="+mn-lt"/>
                <a:cs typeface="+mn-lt"/>
              </a:rPr>
              <a:t>transparency</a:t>
            </a:r>
            <a:r>
              <a:rPr lang="pt-PT" sz="2000" dirty="0">
                <a:latin typeface="Nunito"/>
                <a:ea typeface="+mn-lt"/>
                <a:cs typeface="+mn-lt"/>
              </a:rPr>
              <a:t> </a:t>
            </a:r>
            <a:r>
              <a:rPr lang="pt-PT" sz="2000" dirty="0" err="1">
                <a:latin typeface="Nunito"/>
                <a:ea typeface="+mn-lt"/>
                <a:cs typeface="+mn-lt"/>
              </a:rPr>
              <a:t>brings</a:t>
            </a:r>
            <a:r>
              <a:rPr lang="pt-PT" sz="2000" dirty="0">
                <a:latin typeface="Nunito"/>
                <a:ea typeface="+mn-lt"/>
                <a:cs typeface="+mn-lt"/>
              </a:rPr>
              <a:t> some </a:t>
            </a:r>
            <a:r>
              <a:rPr lang="pt-PT" sz="2000" dirty="0" err="1">
                <a:latin typeface="Nunito"/>
                <a:ea typeface="+mn-lt"/>
                <a:cs typeface="+mn-lt"/>
              </a:rPr>
              <a:t>problems</a:t>
            </a:r>
            <a:endParaRPr lang="pt-PT" sz="2000" dirty="0" err="1">
              <a:latin typeface="Nunito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CC37B6F-8DF4-46EA-9D93-CF2C16020D76}"/>
              </a:ext>
            </a:extLst>
          </p:cNvPr>
          <p:cNvSpPr txBox="1"/>
          <p:nvPr/>
        </p:nvSpPr>
        <p:spPr>
          <a:xfrm>
            <a:off x="2104765" y="3277050"/>
            <a:ext cx="802789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200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Blockchain Technology are not yet adopting TEEs as security method</a:t>
            </a:r>
            <a:endParaRPr lang="pt-PT" sz="2000">
              <a:latin typeface="Nunito"/>
            </a:endParaRPr>
          </a:p>
        </p:txBody>
      </p:sp>
      <p:sp>
        <p:nvSpPr>
          <p:cNvPr id="14" name="CustomShape 5">
            <a:extLst>
              <a:ext uri="{FF2B5EF4-FFF2-40B4-BE49-F238E27FC236}">
                <a16:creationId xmlns:a16="http://schemas.microsoft.com/office/drawing/2014/main" id="{EE3B0052-CECF-49A5-8626-BDB87F5B5EF4}"/>
              </a:ext>
            </a:extLst>
          </p:cNvPr>
          <p:cNvSpPr/>
          <p:nvPr/>
        </p:nvSpPr>
        <p:spPr>
          <a:xfrm>
            <a:off x="11313995" y="1467360"/>
            <a:ext cx="876640" cy="3077962"/>
          </a:xfrm>
          <a:prstGeom prst="rect">
            <a:avLst/>
          </a:prstGeom>
          <a:solidFill>
            <a:srgbClr val="303B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2104D2B-2691-4628-ABA7-FF491C3D8B67}"/>
              </a:ext>
            </a:extLst>
          </p:cNvPr>
          <p:cNvSpPr txBox="1"/>
          <p:nvPr/>
        </p:nvSpPr>
        <p:spPr>
          <a:xfrm>
            <a:off x="2059979" y="1466012"/>
            <a:ext cx="8077983" cy="132343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Blockchain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is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a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recent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and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disruptive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 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technology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, 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gaining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a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lot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of</a:t>
            </a:r>
            <a:r>
              <a:rPr lang="pt-PT" sz="2000" dirty="0">
                <a:solidFill>
                  <a:srgbClr val="1694B2"/>
                </a:solidFill>
                <a:latin typeface="Nunito"/>
                <a:ea typeface="+mn-lt"/>
                <a:cs typeface="+mn-lt"/>
              </a:rPr>
              <a:t> </a:t>
            </a:r>
            <a:r>
              <a:rPr lang="pt-PT" sz="2000" dirty="0" err="1">
                <a:solidFill>
                  <a:srgbClr val="1694B2"/>
                </a:solidFill>
                <a:latin typeface="Nunito"/>
                <a:ea typeface="+mn-lt"/>
                <a:cs typeface="+mn-lt"/>
              </a:rPr>
              <a:t>adoption</a:t>
            </a:r>
            <a:br>
              <a:rPr lang="pt-PT" sz="2000" dirty="0">
                <a:latin typeface="Nunito"/>
              </a:rPr>
            </a:br>
            <a:endParaRPr lang="pt-PT" sz="2000">
              <a:solidFill>
                <a:srgbClr val="1694B2"/>
              </a:solidFill>
              <a:latin typeface="Nunito"/>
            </a:endParaRPr>
          </a:p>
          <a:p>
            <a:pPr marL="285750" indent="-285750">
              <a:buFont typeface="Arial"/>
              <a:buChar char="•"/>
            </a:pPr>
            <a:endParaRPr lang="pt-PT" sz="2000" dirty="0">
              <a:latin typeface="Nunito"/>
              <a:cs typeface="Arial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B52A81-ED35-435A-A7B5-1952462805A3}"/>
              </a:ext>
            </a:extLst>
          </p:cNvPr>
          <p:cNvSpPr txBox="1"/>
          <p:nvPr/>
        </p:nvSpPr>
        <p:spPr>
          <a:xfrm>
            <a:off x="4961603" y="2268452"/>
            <a:ext cx="2268583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 rtl="0">
              <a:buFont typeface="Arial"/>
              <a:buChar char="•"/>
            </a:pPr>
            <a:r>
              <a:rPr lang="pt-PT" sz="2000" err="1">
                <a:latin typeface="Nunito"/>
                <a:ea typeface="Arial"/>
                <a:cs typeface="Arial"/>
              </a:rPr>
              <a:t>Immutability</a:t>
            </a:r>
            <a:r>
              <a:rPr lang="pt-PT" sz="2000" dirty="0">
                <a:latin typeface="Nunito"/>
                <a:ea typeface="Arial"/>
                <a:cs typeface="Arial"/>
              </a:rPr>
              <a:t>​</a:t>
            </a:r>
            <a:endParaRPr lang="pt-PT" sz="2000"/>
          </a:p>
          <a:p>
            <a:pPr marL="285750" indent="-285750">
              <a:buFont typeface="Arial"/>
              <a:buChar char="•"/>
            </a:pPr>
            <a:r>
              <a:rPr lang="pt-PT" sz="2000" err="1">
                <a:latin typeface="Nunito"/>
                <a:ea typeface="Arial"/>
                <a:cs typeface="Arial"/>
              </a:rPr>
              <a:t>Transparency</a:t>
            </a:r>
            <a:r>
              <a:rPr lang="pt-PT" sz="2000" dirty="0">
                <a:latin typeface="Nunito"/>
                <a:ea typeface="Arial"/>
                <a:cs typeface="Arial"/>
              </a:rPr>
              <a:t>​</a:t>
            </a:r>
            <a:endParaRPr lang="pt-PT" sz="2000">
              <a:latin typeface="Arial"/>
              <a:ea typeface="Arial"/>
              <a:cs typeface="Arial"/>
            </a:endParaRPr>
          </a:p>
          <a:p>
            <a:pPr marL="285750" lvl="0" indent="-285750">
              <a:buFont typeface="Arial"/>
              <a:buChar char="•"/>
            </a:pPr>
            <a:r>
              <a:rPr lang="pt-PT" sz="2000" err="1">
                <a:latin typeface="Nunito"/>
                <a:ea typeface="Arial"/>
                <a:cs typeface="Arial"/>
              </a:rPr>
              <a:t>Security</a:t>
            </a:r>
            <a:endParaRPr lang="pt-PT" sz="2000" err="1"/>
          </a:p>
        </p:txBody>
      </p:sp>
    </p:spTree>
    <p:extLst>
      <p:ext uri="{BB962C8B-B14F-4D97-AF65-F5344CB8AC3E}">
        <p14:creationId xmlns:p14="http://schemas.microsoft.com/office/powerpoint/2010/main" val="19770323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CustomShape 1"/>
          <p:cNvSpPr/>
          <p:nvPr/>
        </p:nvSpPr>
        <p:spPr>
          <a:xfrm>
            <a:off x="0" y="2295720"/>
            <a:ext cx="12191760" cy="990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-US" sz="6000" b="0" strike="noStrike" spc="-1" dirty="0">
                <a:solidFill>
                  <a:srgbClr val="303B3F"/>
                </a:solidFill>
                <a:latin typeface="Nunito"/>
                <a:ea typeface="Nunito"/>
              </a:rPr>
              <a:t>THANK</a:t>
            </a:r>
            <a:r>
              <a:rPr lang="en-US" sz="6000" b="0" strike="noStrike" spc="-1" dirty="0">
                <a:solidFill>
                  <a:srgbClr val="1694B2"/>
                </a:solidFill>
                <a:latin typeface="Nunito"/>
                <a:ea typeface="Nunito"/>
              </a:rPr>
              <a:t> YOU!</a:t>
            </a:r>
            <a:endParaRPr lang="pt-PT" sz="6000" b="0" strike="noStrike" spc="-1" dirty="0">
              <a:latin typeface="Arial"/>
            </a:endParaRPr>
          </a:p>
        </p:txBody>
      </p:sp>
      <p:sp>
        <p:nvSpPr>
          <p:cNvPr id="358" name="CustomShape 2"/>
          <p:cNvSpPr/>
          <p:nvPr/>
        </p:nvSpPr>
        <p:spPr>
          <a:xfrm>
            <a:off x="0" y="4506840"/>
            <a:ext cx="12191760" cy="1632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ctr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endParaRPr lang="en-US" sz="2000" b="1" strike="noStrike" spc="-1" dirty="0">
              <a:solidFill>
                <a:srgbClr val="8498A0"/>
              </a:solidFill>
              <a:latin typeface="Nunito"/>
            </a:endParaRPr>
          </a:p>
          <a:p>
            <a:pPr algn="ctr">
              <a:lnSpc>
                <a:spcPct val="90000"/>
              </a:lnSpc>
              <a:tabLst>
                <a:tab pos="0" algn="l"/>
              </a:tabLst>
            </a:pPr>
            <a:endParaRPr lang="pt-PT" sz="2000" b="0" strike="noStrike" spc="-1">
              <a:latin typeface="Arial"/>
            </a:endParaRPr>
          </a:p>
        </p:txBody>
      </p:sp>
      <p:sp>
        <p:nvSpPr>
          <p:cNvPr id="359" name="CustomShape 3"/>
          <p:cNvSpPr/>
          <p:nvPr/>
        </p:nvSpPr>
        <p:spPr>
          <a:xfrm>
            <a:off x="93240" y="3173760"/>
            <a:ext cx="12191760" cy="54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ctr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-US" sz="1400" spc="-1">
                <a:solidFill>
                  <a:srgbClr val="8498A0"/>
                </a:solidFill>
                <a:latin typeface="Nunito"/>
                <a:ea typeface="Nunito"/>
              </a:rPr>
              <a:t> </a:t>
            </a:r>
            <a:r>
              <a:rPr lang="en-US" sz="1400" b="0" strike="noStrike" spc="-1">
                <a:solidFill>
                  <a:srgbClr val="8498A0"/>
                </a:solidFill>
                <a:latin typeface="Nunito"/>
                <a:ea typeface="Nunito"/>
              </a:rPr>
              <a:t>| </a:t>
            </a:r>
            <a:r>
              <a:rPr lang="en-US" sz="1400" spc="-1">
                <a:solidFill>
                  <a:srgbClr val="8498A0"/>
                </a:solidFill>
                <a:latin typeface="Nunito"/>
                <a:ea typeface="Nunito"/>
              </a:rPr>
              <a:t>Vitor Ribeiro a86619 |</a:t>
            </a:r>
            <a:r>
              <a:rPr lang="en-US" sz="1400" spc="-1" dirty="0">
                <a:solidFill>
                  <a:srgbClr val="8498A0"/>
                </a:solidFill>
                <a:latin typeface="Nunito"/>
                <a:ea typeface="Nunito"/>
              </a:rPr>
              <a:t> </a:t>
            </a:r>
            <a:endParaRPr lang="pt-PT" sz="1400" b="0" strike="noStrike" spc="-1" dirty="0">
              <a:latin typeface="Arial"/>
            </a:endParaRPr>
          </a:p>
        </p:txBody>
      </p:sp>
      <p:sp>
        <p:nvSpPr>
          <p:cNvPr id="5" name="CustomShape 3">
            <a:extLst>
              <a:ext uri="{FF2B5EF4-FFF2-40B4-BE49-F238E27FC236}">
                <a16:creationId xmlns:a16="http://schemas.microsoft.com/office/drawing/2014/main" id="{CE9C2D1B-3F78-43A4-BB99-9BFAACF6A789}"/>
              </a:ext>
            </a:extLst>
          </p:cNvPr>
          <p:cNvSpPr/>
          <p:nvPr/>
        </p:nvSpPr>
        <p:spPr>
          <a:xfrm>
            <a:off x="-2011" y="1908295"/>
            <a:ext cx="12191760" cy="54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ctr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-US" sz="1400" spc="-1" dirty="0">
                <a:solidFill>
                  <a:srgbClr val="8498A0"/>
                </a:solidFill>
                <a:latin typeface="Nunito"/>
                <a:ea typeface="Nunito"/>
              </a:rPr>
              <a:t> "Simplicity is the ultimate sophistication" - Leonardo da Vinci</a:t>
            </a:r>
            <a:endParaRPr lang="pt-PT" sz="1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Microsoft Office PowerPoint</Application>
  <PresentationFormat>Ecrã Panorâmico</PresentationFormat>
  <Slides>24</Slides>
  <Notes>20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24</vt:i4>
      </vt:variant>
    </vt:vector>
  </HeadingPairs>
  <TitlesOfParts>
    <vt:vector size="25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Sandro</dc:creator>
  <dc:description/>
  <cp:lastModifiedBy/>
  <cp:revision>870</cp:revision>
  <dcterms:created xsi:type="dcterms:W3CDTF">2019-02-04T10:47:33Z</dcterms:created>
  <dcterms:modified xsi:type="dcterms:W3CDTF">2021-11-16T22:54:29Z</dcterms:modified>
  <dc:language>pt-PT</dc:language>
</cp:coreProperties>
</file>